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8"/>
    <p:sldId id="257" r:id="rId9"/>
    <p:sldId id="258" r:id="rId10"/>
    <p:sldId id="259" r:id="rId11"/>
    <p:sldId id="260" r:id="rId12"/>
    <p:sldId id="261" r:id="rId13"/>
    <p:sldId id="262" r:id="rId14"/>
    <p:sldId id="263" r:id="rId15"/>
    <p:sldId id="264" r:id="rId16"/>
    <p:sldId id="265" r:id="rId17"/>
    <p:sldId id="266" r:id="rId7"/>
    <p:sldId id="267" r:id="rId6"/>
    <p:sldId id="268" r:id="rId5"/>
    <p:sldId id="269" r:id="rId4"/>
    <p:sldId id="270" r:id="rId3"/>
    <p:sldId id="271"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4196EA4-DBB4-5536-79FC-275EE4E3023B}">
          <p14:sldIdLst>
            <p14:sldId id="256"/>
          </p14:sldIdLst>
        </p14:section>
        <p14:section name="Problem and discovery" id="{81B4AA46-E673-4C30-BE1C-7363162F0671}">
          <p14:sldIdLst>
            <p14:sldId id="257"/>
            <p14:sldId id="258"/>
            <p14:sldId id="259"/>
            <p14:sldId id="260"/>
          </p14:sldIdLst>
        </p14:section>
        <p14:section name="Opportunity and solution" id="{B08C03E8-BC5E-488F-A35F-73B39605E848}">
          <p14:sldIdLst>
            <p14:sldId id="261"/>
            <p14:sldId id="262"/>
          </p14:sldIdLst>
        </p14:section>
        <p14:section name="Walkthrough" id="{1DB20706-5B45-C3AD-243A-221ABD3FBDB5}">
          <p14:sldIdLst>
            <p14:sldId id="263"/>
            <p14:sldId id="264"/>
            <p14:sldId id="265"/>
          </p14:sldIdLst>
        </p14:section>
        <p14:section name="Metrics" id="{B18A3ACF-CED0-CDE1-881B-B06575CDF4F3}">
          <p14:sldIdLst>
            <p14:sldId id="266"/>
            <p14:sldId id="267"/>
            <p14:sldId id="268"/>
          </p14:sldIdLst>
        </p14:section>
        <p14:section name="Risks and rollout" id="{85A5B787-EDFA-0C9D-1831-885F91609322}">
          <p14:sldIdLst>
            <p14:sldId id="269"/>
            <p14:sldId id="270"/>
          </p14:sldIdLst>
        </p14:section>
        <p14:section name="Close" id="{E05CCE7A-D733-7A90-159D-B9DB2FBC744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6.xml"/><Relationship Id="rId3" Type="http://schemas.openxmlformats.org/officeDocument/2006/relationships/slide" Target="slides/slide15.xml"/><Relationship Id="rId4" Type="http://schemas.openxmlformats.org/officeDocument/2006/relationships/slide" Target="slides/slide14.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kumar Burasiya" userId="6c65fcc71791bb75" providerId="LiveId" clId="{2969D9B0-A6E8-4A1F-AC99-DE5940C8EB97}"/>
    <pc:docChg chg="modSld">
      <pc:chgData name="Ashokkumar Burasiya" userId="6c65fcc71791bb75" providerId="LiveId" clId="{2969D9B0-A6E8-4A1F-AC99-DE5940C8EB97}" dt="2026-10-23T15:10:41.212" v="20" actId="20577"/>
      <pc:docMkLst>
        <pc:docMk/>
      </pc:docMkLst>
      <pc:sldChg chg="modSp">
        <pc:chgData name="Ashokkumar Burasiya" userId="6c65fcc71791bb75" providerId="LiveId" clId="{2969D9B0-A6E8-4A1F-AC99-DE5940C8EB97}" dt="2026-10-23T15:10:41.212" v="20" actId="20577"/>
        <pc:sldMkLst>
          <pc:docMk/>
          <pc:sldMk cId="0" sldId="256"/>
        </pc:sldMkLst>
        <pc:spChg chg="mod">
          <ac:chgData name="Ashokkumar Burasiya" userId="6c65fcc71791bb75" providerId="LiveId" clId="{2969D9B0-A6E8-4A1F-AC99-DE5940C8EB97}" dt="2026-10-23T15:10:41.212" v="20" actId="20577"/>
          <ac:spMkLst>
            <pc:docMk/>
            <pc:sldMk cId="0" sldId="256"/>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0"/>
              <a:t>Impact x feasibility score (max 25)</a:t>
            </a:r>
          </a:p>
        </c:rich>
      </c:tx>
      <c:layout/>
      <c:overlay val="0"/>
    </c:title>
    <c:autoTitleDeleted val="0"/>
    <c:plotArea>
      <c:barChart>
        <c:barDir val="bar"/>
        <c:grouping val="clustered"/>
        <c:ser>
          <c:idx val="0"/>
          <c:order val="0"/>
          <c:tx>
            <c:strRef>
              <c:f>Sheet1!$B$1</c:f>
              <c:strCache>
                <c:ptCount val="1"/>
                <c:pt idx="0">
                  <c:v>Do first (MVP)</c:v>
                </c:pt>
              </c:strCache>
            </c:strRef>
          </c:tx>
          <c:spPr>
            <a:solidFill>
              <a:srgbClr val="0F766E"/>
            </a:solidFill>
          </c:spPr>
          <c:cat>
            <c:strRef>
              <c:f>Sheet1!$A$2:$A$15</c:f>
              <c:strCache>
                <c:ptCount val="14"/>
                <c:pt idx="0">
                  <c:v>O14 Fraud risk scoring</c:v>
                </c:pt>
                <c:pt idx="1">
                  <c:v>O12 Auto-send outreach</c:v>
                </c:pt>
                <c:pt idx="2">
                  <c:v>O11 Auto-award benefits</c:v>
                </c:pt>
                <c:pt idx="3">
                  <c:v>O9 Bank / tax data events</c:v>
                </c:pt>
                <c:pt idx="4">
                  <c:v>O13 Citizen chatbot</c:v>
                </c:pt>
                <c:pt idx="5">
                  <c:v>O10 Auto-merge records</c:v>
                </c:pt>
                <c:pt idx="6">
                  <c:v>O8 Take-up gap dashboard</c:v>
                </c:pt>
                <c:pt idx="7">
                  <c:v>O6 Pre-filled applications</c:v>
                </c:pt>
                <c:pt idx="8">
                  <c:v>O7 Route to a caseworker</c:v>
                </c:pt>
                <c:pt idx="9">
                  <c:v>O5 Outreach, own language</c:v>
                </c:pt>
                <c:pt idx="10">
                  <c:v>O3 Record update + conflicts</c:v>
                </c:pt>
                <c:pt idx="11">
                  <c:v>O2 Life-event triage queue</c:v>
                </c:pt>
                <c:pt idx="12">
                  <c:v>O4 Eligibility check (code)</c:v>
                </c:pt>
                <c:pt idx="13">
                  <c:v>O1 Read facts, any source</c:v>
                </c:pt>
              </c:strCache>
            </c:strRef>
          </c:cat>
          <c:val>
            <c:numRef>
              <c:f>Sheet1!$B$2:$B$15</c:f>
              <c:numCache>
                <c:formatCode>General</c:formatCode>
                <c:ptCount val="14"/>
                <c:pt idx="7">
                  <c:v>16</c:v>
                </c:pt>
                <c:pt idx="8">
                  <c:v>20</c:v>
                </c:pt>
                <c:pt idx="9">
                  <c:v>20</c:v>
                </c:pt>
                <c:pt idx="10">
                  <c:v>20</c:v>
                </c:pt>
                <c:pt idx="11">
                  <c:v>20</c:v>
                </c:pt>
                <c:pt idx="12">
                  <c:v>25</c:v>
                </c:pt>
                <c:pt idx="13">
                  <c:v>25</c:v>
                </c:pt>
              </c:numCache>
            </c:numRef>
          </c:val>
        </c:ser>
        <c:ser>
          <c:idx val="1"/>
          <c:order val="1"/>
          <c:tx>
            <c:strRef>
              <c:f>Sheet1!$C$1</c:f>
              <c:strCache>
                <c:ptCount val="1"/>
                <c:pt idx="0">
                  <c:v>Other</c:v>
                </c:pt>
              </c:strCache>
            </c:strRef>
          </c:tx>
          <c:spPr>
            <a:solidFill>
              <a:srgbClr val="B8C4C2"/>
            </a:solidFill>
          </c:spPr>
          <c:cat>
            <c:strRef>
              <c:f>Sheet1!$A$2:$A$15</c:f>
              <c:strCache>
                <c:ptCount val="14"/>
                <c:pt idx="0">
                  <c:v>O14 Fraud risk scoring</c:v>
                </c:pt>
                <c:pt idx="1">
                  <c:v>O12 Auto-send outreach</c:v>
                </c:pt>
                <c:pt idx="2">
                  <c:v>O11 Auto-award benefits</c:v>
                </c:pt>
                <c:pt idx="3">
                  <c:v>O9 Bank / tax data events</c:v>
                </c:pt>
                <c:pt idx="4">
                  <c:v>O13 Citizen chatbot</c:v>
                </c:pt>
                <c:pt idx="5">
                  <c:v>O10 Auto-merge records</c:v>
                </c:pt>
                <c:pt idx="6">
                  <c:v>O8 Take-up gap dashboard</c:v>
                </c:pt>
                <c:pt idx="7">
                  <c:v>O6 Pre-filled applications</c:v>
                </c:pt>
                <c:pt idx="8">
                  <c:v>O7 Route to a caseworker</c:v>
                </c:pt>
                <c:pt idx="9">
                  <c:v>O5 Outreach, own language</c:v>
                </c:pt>
                <c:pt idx="10">
                  <c:v>O3 Record update + conflicts</c:v>
                </c:pt>
                <c:pt idx="11">
                  <c:v>O2 Life-event triage queue</c:v>
                </c:pt>
                <c:pt idx="12">
                  <c:v>O4 Eligibility check (code)</c:v>
                </c:pt>
                <c:pt idx="13">
                  <c:v>O1 Read facts, any source</c:v>
                </c:pt>
              </c:strCache>
            </c:strRef>
          </c:cat>
          <c:val>
            <c:numRef>
              <c:f>Sheet1!$C$2:$C$15</c:f>
              <c:numCache>
                <c:formatCode>General</c:formatCode>
                <c:ptCount val="14"/>
                <c:pt idx="0">
                  <c:v>4</c:v>
                </c:pt>
                <c:pt idx="1">
                  <c:v>6</c:v>
                </c:pt>
                <c:pt idx="2">
                  <c:v>8</c:v>
                </c:pt>
                <c:pt idx="3">
                  <c:v>8</c:v>
                </c:pt>
                <c:pt idx="4">
                  <c:v>9</c:v>
                </c:pt>
                <c:pt idx="5">
                  <c:v>9</c:v>
                </c:pt>
                <c:pt idx="6">
                  <c:v>15</c:v>
                </c:pt>
              </c:numCache>
            </c:numRef>
          </c:val>
        </c:ser>
        <c:gapWidth val="40"/>
        <c:overlap val="100"/>
        <c:axId val="-2068027336"/>
        <c:axId val="-2113994440"/>
      </c:barChart>
      <c:catAx>
        <c:axId val="-2068027336"/>
        <c:scaling>
          <c:orientation val="minMax"/>
        </c:scaling>
        <c:delete val="0"/>
        <c:axPos val="l"/>
        <c:majorTickMark val="out"/>
        <c:minorTickMark val="none"/>
        <c:tickLblPos val="nextTo"/>
        <c:txPr>
          <a:bodyPr/>
          <a:lstStyle/>
          <a:p>
            <a:pPr>
              <a:defRPr sz="900"/>
            </a:pPr>
          </a:p>
        </c:txPr>
        <c:crossAx val="-2113994440"/>
        <c:crosses val="autoZero"/>
        <c:auto val="1"/>
        <c:lblAlgn val="ctr"/>
        <c:lblOffset val="100"/>
        <c:tickLblSkip val="1"/>
        <c:noMultiLvlLbl val="0"/>
      </c:catAx>
      <c:valAx>
        <c:axId val="-2113994440"/>
        <c:scaling>
          <c:max val="25.0"/>
        </c:scaling>
        <c:delete val="0"/>
        <c:axPos val="b"/>
        <c:majorTickMark val="out"/>
        <c:minorTickMark val="none"/>
        <c:tickLblPos val="nextTo"/>
        <c:txPr>
          <a:bodyPr/>
          <a:lstStyle/>
          <a:p>
            <a:pPr>
              <a:defRPr sz="900"/>
            </a:pPr>
          </a:p>
        </c:txPr>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0"/>
              <a:t>Eligible households enrolled within 30 days of a life event</a:t>
            </a:r>
          </a:p>
        </c:rich>
      </c:tx>
      <c:layout/>
      <c:overlay val="0"/>
    </c:title>
    <c:autoTitleDeleted val="0"/>
    <c:plotArea>
      <c:barChart>
        <c:barDir val="col"/>
        <c:grouping val="clustered"/>
        <c:ser>
          <c:idx val="0"/>
          <c:order val="0"/>
          <c:tx>
            <c:strRef>
              <c:f>Sheet1!$B$1</c:f>
              <c:strCache>
                <c:ptCount val="1"/>
                <c:pt idx="0">
                  <c:v>Enrolled within 30 days</c:v>
                </c:pt>
              </c:strCache>
            </c:strRef>
          </c:tx>
          <c:spPr>
            <a:solidFill>
              <a:srgbClr val="0F766E"/>
            </a:solidFill>
          </c:spPr>
          <c:cat>
            <c:strRef>
              <c:f>Sheet1!$A$2:$A$4</c:f>
              <c:strCache>
                <c:ptCount val="3"/>
                <c:pt idx="0">
                  <c:v>Baseline (320 past events)</c:v>
                </c:pt>
                <c:pt idx="1">
                  <c:v>Pilot target (6 months)</c:v>
                </c:pt>
                <c:pt idx="2">
                  <c:v>Full rollout</c:v>
                </c:pt>
              </c:strCache>
            </c:strRef>
          </c:cat>
          <c:val>
            <c:numRef>
              <c:f>Sheet1!$B$2:$B$4</c:f>
              <c:numCache>
                <c:formatCode>General</c:formatCode>
                <c:ptCount val="3"/>
                <c:pt idx="0">
                  <c:v>0.21</c:v>
                </c:pt>
                <c:pt idx="1">
                  <c:v>0.45</c:v>
                </c:pt>
                <c:pt idx="2">
                  <c:v>0.6</c:v>
                </c:pt>
              </c:numCache>
            </c:numRef>
          </c:val>
        </c:ser>
        <c:dLbls>
          <c:numFmt formatCode="0%" sourceLinked="0"/>
          <c:txPr>
            <a:bodyPr/>
            <a:lstStyle/>
            <a:p>
              <a:pPr>
                <a:defRPr sz="14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0.7"/>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0"/>
              <a:t>PRD section 11 evals on 40 life events</a:t>
            </a:r>
          </a:p>
        </c:rich>
      </c:tx>
      <c:layout/>
      <c:overlay val="0"/>
    </c:title>
    <c:autoTitleDeleted val="0"/>
    <c:plotArea>
      <c:barChart>
        <c:barDir val="bar"/>
        <c:grouping val="clustered"/>
        <c:ser>
          <c:idx val="0"/>
          <c:order val="0"/>
          <c:tx>
            <c:strRef>
              <c:f>Sheet1!$B$1</c:f>
              <c:strCache>
                <c:ptCount val="1"/>
                <c:pt idx="0">
                  <c:v>Offline (rules + patterns)</c:v>
                </c:pt>
              </c:strCache>
            </c:strRef>
          </c:tx>
          <c:spPr>
            <a:solidFill>
              <a:srgbClr val="5B7C99"/>
            </a:solidFill>
          </c:spPr>
          <c:cat>
            <c:strRef>
              <c:f>Sheet1!$A$2:$A$7</c:f>
              <c:strCache>
                <c:ptCount val="6"/>
                <c:pt idx="0">
                  <c:v>Red-team drafts blocked</c:v>
                </c:pt>
                <c:pt idx="1">
                  <c:v>Drafts passing safety</c:v>
                </c:pt>
                <c:pt idx="2">
                  <c:v>Cases exactly right</c:v>
                </c:pt>
                <c:pt idx="3">
                  <c:v>Entitlement recall</c:v>
                </c:pt>
                <c:pt idx="4">
                  <c:v>Entitlement precision</c:v>
                </c:pt>
                <c:pt idx="5">
                  <c:v>Fact recall (labelled facts)</c:v>
                </c:pt>
              </c:strCache>
            </c:strRef>
          </c:cat>
          <c:val>
            <c:numRef>
              <c:f>Sheet1!$B$2:$B$7</c:f>
              <c:numCache>
                <c:formatCode>General</c:formatCode>
                <c:ptCount val="6"/>
                <c:pt idx="0">
                  <c:v>1.0</c:v>
                </c:pt>
                <c:pt idx="1">
                  <c:v>1.0</c:v>
                </c:pt>
                <c:pt idx="2">
                  <c:v>0.975</c:v>
                </c:pt>
                <c:pt idx="3">
                  <c:v>1.0</c:v>
                </c:pt>
                <c:pt idx="4">
                  <c:v>1.0</c:v>
                </c:pt>
                <c:pt idx="5">
                  <c:v>0.937</c:v>
                </c:pt>
              </c:numCache>
            </c:numRef>
          </c:val>
        </c:ser>
        <c:ser>
          <c:idx val="1"/>
          <c:order val="1"/>
          <c:tx>
            <c:strRef>
              <c:f>Sheet1!$C$1</c:f>
              <c:strCache>
                <c:ptCount val="1"/>
                <c:pt idx="0">
                  <c:v>Live AI (Groq)</c:v>
                </c:pt>
              </c:strCache>
            </c:strRef>
          </c:tx>
          <c:spPr>
            <a:solidFill>
              <a:srgbClr val="0F766E"/>
            </a:solidFill>
          </c:spPr>
          <c:cat>
            <c:strRef>
              <c:f>Sheet1!$A$2:$A$7</c:f>
              <c:strCache>
                <c:ptCount val="6"/>
                <c:pt idx="0">
                  <c:v>Red-team drafts blocked</c:v>
                </c:pt>
                <c:pt idx="1">
                  <c:v>Drafts passing safety</c:v>
                </c:pt>
                <c:pt idx="2">
                  <c:v>Cases exactly right</c:v>
                </c:pt>
                <c:pt idx="3">
                  <c:v>Entitlement recall</c:v>
                </c:pt>
                <c:pt idx="4">
                  <c:v>Entitlement precision</c:v>
                </c:pt>
                <c:pt idx="5">
                  <c:v>Fact recall (labelled facts)</c:v>
                </c:pt>
              </c:strCache>
            </c:strRef>
          </c:cat>
          <c:val>
            <c:numRef>
              <c:f>Sheet1!$C$2:$C$7</c:f>
              <c:numCache>
                <c:formatCode>General</c:formatCode>
                <c:ptCount val="6"/>
                <c:pt idx="0">
                  <c:v>1.0</c:v>
                </c:pt>
                <c:pt idx="1">
                  <c:v>1.0</c:v>
                </c:pt>
                <c:pt idx="2">
                  <c:v>1.0</c:v>
                </c:pt>
                <c:pt idx="3">
                  <c:v>1.0</c:v>
                </c:pt>
                <c:pt idx="4">
                  <c:v>1.0</c:v>
                </c:pt>
                <c:pt idx="5">
                  <c:v>0.987</c:v>
                </c:pt>
              </c:numCache>
            </c:numRef>
          </c:val>
        </c:ser>
        <c:dLbls>
          <c:numFmt formatCode="0.0%" sourceLinked="0"/>
          <c:txPr>
            <a:bodyPr/>
            <a:lstStyle/>
            <a:p>
              <a:pPr>
                <a:defRPr sz="1100" b="1">
                  <a:solidFill>
                    <a:srgbClr val="FFFFFF"/>
                  </a:solidFill>
                </a:defRPr>
              </a:pPr>
            </a:p>
          </c:txPr>
          <c:dLblPos val="inEnd"/>
          <c:showLegendKey val="0"/>
          <c:showVal val="1"/>
          <c:showCatName val="0"/>
          <c:showSerName val="0"/>
          <c:showPercent val="0"/>
          <c:showBubbleSize val="0"/>
          <c:showLeaderLines val="1"/>
        </c:dLbls>
        <c:gapWidth val="40"/>
        <c:overlap val="-5"/>
        <c:axId val="-2068027336"/>
        <c:axId val="-2113994440"/>
      </c:barChart>
      <c:catAx>
        <c:axId val="-2068027336"/>
        <c:scaling>
          <c:orientation val="minMax"/>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6852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2801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291840"/>
            <a:ext cx="10698480" cy="1463040"/>
          </a:xfrm>
          <a:prstGeom prst="rect">
            <a:avLst/>
          </a:prstGeom>
          <a:noFill/>
          <a:ln/>
        </p:spPr>
        <p:txBody>
          <a:bodyPr wrap="square" rtlCol="0"/>
          <a:lstStyle>
            <a:lvl1pPr marL="0" indent="0" algn="l">
              <a:buNone/>
              <a:defRPr lang="en-US" sz="2400" dirty="0">
                <a:solidFill>
                  <a:schemeClr val="bg2"/>
                </a:solidFill>
                <a:latin typeface="Calibri" pitchFamily="34" charset="0"/>
                <a:ea typeface="Calibri" pitchFamily="34" charset="-122"/>
                <a:cs typeface="Calibri" pitchFamily="34" charset="-120"/>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3" name="Text 0"/>
          <p:cNvSpPr/>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chemeClr val="accent4"/>
                </a:solidFill>
              </a:rPr>
              <a:t>BenefitBridge, Proactive Entitlement Agent</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BenefitBridge: Proactive Entitlement Agent</a:t>
            </a:r>
          </a:p>
        </p:txBody>
      </p:sp>
      <p:sp>
        <p:nvSpPr>
          <p:cNvPr id="3" name="Text Placeholder 2"/>
          <p:cNvSpPr>
            <a:spLocks noGrp="1"/>
          </p:cNvSpPr>
          <p:nvPr>
            <p:ph type="body" idx="101"/>
          </p:nvPr>
        </p:nvSpPr>
        <p:spPr/>
        <p:txBody>
          <a:bodyPr/>
          <a:lstStyle/>
          <a:p>
            <a:r>
              <a:t>People in crisis don't lack entitlements. They lack someone telling them.</a:t>
            </a:r>
          </a:p>
        </p:txBody>
      </p:sp>
      <p:sp>
        <p:nvSpPr>
          <p:cNvPr id="4" name="TextBox 3"/>
          <p:cNvSpPr txBox="1"/>
          <p:nvPr/>
        </p:nvSpPr>
        <p:spPr>
          <a:xfrm>
            <a:off x="731520" y="5760720"/>
            <a:ext cx="10698480" cy="365760"/>
          </a:xfrm>
          <a:prstGeom prst="rect">
            <a:avLst/>
          </a:prstGeom>
          <a:noFill/>
        </p:spPr>
        <p:txBody>
          <a:bodyPr wrap="square" lIns="0" rIns="0" tIns="0" bIns="0" anchor="t">
            <a:spAutoFit/>
          </a:bodyPr>
          <a:lstStyle/>
          <a:p>
            <a:r>
              <a:rPr sz="1200" b="0" i="0">
                <a:solidFill>
                  <a:srgbClr val="FFFFFF"/>
                </a:solidFill>
              </a:rPr>
              <a:t>Ashok Burasiya  |  25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Support goes unclaimed exactly when people need it most</a:t>
            </a:r>
          </a:p>
        </p:txBody>
      </p:sp>
      <p:sp>
        <p:nvSpPr>
          <p:cNvPr id="3" name="Rounded Rectangle 2"/>
          <p:cNvSpPr/>
          <p:nvPr/>
        </p:nvSpPr>
        <p:spPr>
          <a:xfrm>
            <a:off x="548640" y="1600200"/>
            <a:ext cx="2560320" cy="2926080"/>
          </a:xfrm>
          <a:prstGeom prst="roundRect">
            <a:avLst>
              <a:gd name="adj" fmla="val 43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920240"/>
            <a:ext cx="2194560" cy="1005840"/>
          </a:xfrm>
          <a:prstGeom prst="rect">
            <a:avLst/>
          </a:prstGeom>
          <a:noFill/>
        </p:spPr>
        <p:txBody>
          <a:bodyPr wrap="square" lIns="0" rIns="0" tIns="0" bIns="0" anchor="ctr">
            <a:spAutoFit/>
          </a:bodyPr>
          <a:lstStyle/>
          <a:p>
            <a:r>
              <a:rPr sz="3800" b="1" i="0">
                <a:solidFill>
                  <a:srgbClr val="C2463F"/>
                </a:solidFill>
                <a:latin typeface="Cambria"/>
              </a:rPr>
              <a:t>21%</a:t>
            </a:r>
          </a:p>
        </p:txBody>
      </p:sp>
      <p:sp>
        <p:nvSpPr>
          <p:cNvPr id="5" name="TextBox 4"/>
          <p:cNvSpPr txBox="1"/>
          <p:nvPr/>
        </p:nvSpPr>
        <p:spPr>
          <a:xfrm>
            <a:off x="822960" y="3063240"/>
            <a:ext cx="2011680" cy="1280160"/>
          </a:xfrm>
          <a:prstGeom prst="rect">
            <a:avLst/>
          </a:prstGeom>
          <a:noFill/>
        </p:spPr>
        <p:txBody>
          <a:bodyPr wrap="square" lIns="0" rIns="0" tIns="0" bIns="0" anchor="t">
            <a:spAutoFit/>
          </a:bodyPr>
          <a:lstStyle/>
          <a:p>
            <a:r>
              <a:rPr sz="1600" b="0" i="0">
                <a:solidFill>
                  <a:srgbClr val="1D2B30"/>
                </a:solidFill>
              </a:rPr>
              <a:t>of eligible households enrolled within 30 days of a life event; baseline from 320 past events</a:t>
            </a:r>
          </a:p>
        </p:txBody>
      </p:sp>
      <p:sp>
        <p:nvSpPr>
          <p:cNvPr id="6" name="Rounded Rectangle 5"/>
          <p:cNvSpPr/>
          <p:nvPr/>
        </p:nvSpPr>
        <p:spPr>
          <a:xfrm>
            <a:off x="3383280" y="1600200"/>
            <a:ext cx="2560320" cy="2926080"/>
          </a:xfrm>
          <a:prstGeom prst="roundRect">
            <a:avLst>
              <a:gd name="adj" fmla="val 43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920240"/>
            <a:ext cx="2194560" cy="1005840"/>
          </a:xfrm>
          <a:prstGeom prst="rect">
            <a:avLst/>
          </a:prstGeom>
          <a:noFill/>
        </p:spPr>
        <p:txBody>
          <a:bodyPr wrap="square" lIns="0" rIns="0" tIns="0" bIns="0" anchor="ctr">
            <a:spAutoFit/>
          </a:bodyPr>
          <a:lstStyle/>
          <a:p>
            <a:r>
              <a:rPr sz="3800" b="1" i="0">
                <a:solidFill>
                  <a:srgbClr val="E8A33D"/>
                </a:solidFill>
                <a:latin typeface="Cambria"/>
              </a:rPr>
              <a:t>65 days</a:t>
            </a:r>
          </a:p>
        </p:txBody>
      </p:sp>
      <p:sp>
        <p:nvSpPr>
          <p:cNvPr id="8" name="TextBox 7"/>
          <p:cNvSpPr txBox="1"/>
          <p:nvPr/>
        </p:nvSpPr>
        <p:spPr>
          <a:xfrm>
            <a:off x="3657600" y="3063240"/>
            <a:ext cx="2011680" cy="1280160"/>
          </a:xfrm>
          <a:prstGeom prst="rect">
            <a:avLst/>
          </a:prstGeom>
          <a:noFill/>
        </p:spPr>
        <p:txBody>
          <a:bodyPr wrap="square" lIns="0" rIns="0" tIns="0" bIns="0" anchor="t">
            <a:spAutoFit/>
          </a:bodyPr>
          <a:lstStyle/>
          <a:p>
            <a:r>
              <a:rPr sz="1600" b="0" i="0">
                <a:solidFill>
                  <a:srgbClr val="1D2B30"/>
                </a:solidFill>
              </a:rPr>
              <a:t>median wait from a life event to a first claim</a:t>
            </a:r>
          </a:p>
        </p:txBody>
      </p:sp>
      <p:sp>
        <p:nvSpPr>
          <p:cNvPr id="9" name="Rounded Rectangle 8"/>
          <p:cNvSpPr/>
          <p:nvPr/>
        </p:nvSpPr>
        <p:spPr>
          <a:xfrm>
            <a:off x="6217920" y="1600200"/>
            <a:ext cx="2560320" cy="2926080"/>
          </a:xfrm>
          <a:prstGeom prst="roundRect">
            <a:avLst>
              <a:gd name="adj" fmla="val 43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2194560" cy="1005840"/>
          </a:xfrm>
          <a:prstGeom prst="rect">
            <a:avLst/>
          </a:prstGeom>
          <a:noFill/>
        </p:spPr>
        <p:txBody>
          <a:bodyPr wrap="square" lIns="0" rIns="0" tIns="0" bIns="0" anchor="ctr">
            <a:spAutoFit/>
          </a:bodyPr>
          <a:lstStyle/>
          <a:p>
            <a:r>
              <a:rPr sz="3800" b="1" i="0">
                <a:solidFill>
                  <a:srgbClr val="C2463F"/>
                </a:solidFill>
                <a:latin typeface="Cambria"/>
              </a:rPr>
              <a:t>$160.8k</a:t>
            </a:r>
          </a:p>
        </p:txBody>
      </p:sp>
      <p:sp>
        <p:nvSpPr>
          <p:cNvPr id="11" name="TextBox 10"/>
          <p:cNvSpPr txBox="1"/>
          <p:nvPr/>
        </p:nvSpPr>
        <p:spPr>
          <a:xfrm>
            <a:off x="6492240" y="3063240"/>
            <a:ext cx="2011680" cy="1280160"/>
          </a:xfrm>
          <a:prstGeom prst="rect">
            <a:avLst/>
          </a:prstGeom>
          <a:noFill/>
        </p:spPr>
        <p:txBody>
          <a:bodyPr wrap="square" lIns="0" rIns="0" tIns="0" bIns="0" anchor="t">
            <a:spAutoFit/>
          </a:bodyPr>
          <a:lstStyle/>
          <a:p>
            <a:r>
              <a:rPr sz="1600" b="0" i="0">
                <a:solidFill>
                  <a:srgbClr val="1D2B30"/>
                </a:solidFill>
              </a:rPr>
              <a:t>a year unclaimed across 50 of 141 households already on the agency's books</a:t>
            </a:r>
          </a:p>
        </p:txBody>
      </p:sp>
      <p:sp>
        <p:nvSpPr>
          <p:cNvPr id="12" name="Rounded Rectangle 11"/>
          <p:cNvSpPr/>
          <p:nvPr/>
        </p:nvSpPr>
        <p:spPr>
          <a:xfrm>
            <a:off x="9052560" y="1600200"/>
            <a:ext cx="2560320" cy="2926080"/>
          </a:xfrm>
          <a:prstGeom prst="roundRect">
            <a:avLst>
              <a:gd name="adj" fmla="val 43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1920240"/>
            <a:ext cx="2194560" cy="1005840"/>
          </a:xfrm>
          <a:prstGeom prst="rect">
            <a:avLst/>
          </a:prstGeom>
          <a:noFill/>
        </p:spPr>
        <p:txBody>
          <a:bodyPr wrap="square" lIns="0" rIns="0" tIns="0" bIns="0" anchor="ctr">
            <a:spAutoFit/>
          </a:bodyPr>
          <a:lstStyle/>
          <a:p>
            <a:r>
              <a:rPr sz="3800" b="1" i="0">
                <a:solidFill>
                  <a:srgbClr val="E8A33D"/>
                </a:solidFill>
                <a:latin typeface="Cambria"/>
              </a:rPr>
              <a:t>45 min</a:t>
            </a:r>
          </a:p>
        </p:txBody>
      </p:sp>
      <p:sp>
        <p:nvSpPr>
          <p:cNvPr id="14" name="TextBox 13"/>
          <p:cNvSpPr txBox="1"/>
          <p:nvPr/>
        </p:nvSpPr>
        <p:spPr>
          <a:xfrm>
            <a:off x="9326880" y="3063240"/>
            <a:ext cx="2011680" cy="1280160"/>
          </a:xfrm>
          <a:prstGeom prst="rect">
            <a:avLst/>
          </a:prstGeom>
          <a:noFill/>
        </p:spPr>
        <p:txBody>
          <a:bodyPr wrap="square" lIns="0" rIns="0" tIns="0" bIns="0" anchor="t">
            <a:spAutoFit/>
          </a:bodyPr>
          <a:lstStyle/>
          <a:p>
            <a:r>
              <a:rPr sz="1600" b="0" i="0">
                <a:solidFill>
                  <a:srgbClr val="1D2B30"/>
                </a:solidFill>
              </a:rPr>
              <a:t>for a caseworker to check one household against all 12 schemes by hand</a:t>
            </a:r>
          </a:p>
        </p:txBody>
      </p:sp>
      <p:sp>
        <p:nvSpPr>
          <p:cNvPr id="15" name="TextBox 14"/>
          <p:cNvSpPr txBox="1"/>
          <p:nvPr/>
        </p:nvSpPr>
        <p:spPr>
          <a:xfrm>
            <a:off x="548640" y="4846320"/>
            <a:ext cx="11064240" cy="822960"/>
          </a:xfrm>
          <a:prstGeom prst="rect">
            <a:avLst/>
          </a:prstGeom>
          <a:noFill/>
        </p:spPr>
        <p:txBody>
          <a:bodyPr wrap="square" lIns="0" rIns="0" tIns="0" bIns="0" anchor="t">
            <a:spAutoFit/>
          </a:bodyPr>
          <a:lstStyle/>
          <a:p>
            <a:r>
              <a:rPr sz="1400" b="0" i="1">
                <a:solidFill>
                  <a:srgbClr val="14424C"/>
                </a:solidFill>
              </a:rPr>
              <a:t>Diego Santos lost his job on 12 October. The agency got the employer's notice the same week, but nobody checked it against the rules: he is owed $13,600 a year across four schemes and has claimed none of them.</a:t>
            </a:r>
          </a:p>
        </p:txBody>
      </p:sp>
      <p:sp>
        <p:nvSpPr>
          <p:cNvPr id="16" name="TextBox 15"/>
          <p:cNvSpPr txBox="1"/>
          <p:nvPr/>
        </p:nvSpPr>
        <p:spPr>
          <a:xfrm>
            <a:off x="548640" y="5897880"/>
            <a:ext cx="11064240" cy="320040"/>
          </a:xfrm>
          <a:prstGeom prst="rect">
            <a:avLst/>
          </a:prstGeom>
          <a:noFill/>
        </p:spPr>
        <p:txBody>
          <a:bodyPr wrap="square" lIns="0" rIns="0" tIns="0" bIns="0" anchor="t">
            <a:spAutoFit/>
          </a:bodyPr>
          <a:lstStyle/>
          <a:p>
            <a:r>
              <a:rPr sz="900" b="0" i="0">
                <a:solidFill>
                  <a:srgbClr val="5B7C99"/>
                </a:solidFill>
              </a:rPr>
              <a:t>Source: 320 past life events (history.json), 141 household records and today's 40 events in the synthetic Aurelia dataset; time per check from caseworker interviews (Step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Discovery: the agency knows, but nobody acts on what it knows</a:t>
            </a:r>
          </a:p>
        </p:txBody>
      </p:sp>
      <p:sp>
        <p:nvSpPr>
          <p:cNvPr id="3" name="Rounded Rectangle 2"/>
          <p:cNvSpPr/>
          <p:nvPr/>
        </p:nvSpPr>
        <p:spPr>
          <a:xfrm>
            <a:off x="548640" y="1463040"/>
            <a:ext cx="4206240" cy="4663440"/>
          </a:xfrm>
          <a:prstGeom prst="roundRect">
            <a:avLst>
              <a:gd name="adj" fmla="val 3000"/>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3657600" cy="320040"/>
          </a:xfrm>
          <a:prstGeom prst="rect">
            <a:avLst/>
          </a:prstGeom>
          <a:noFill/>
        </p:spPr>
        <p:txBody>
          <a:bodyPr wrap="square" lIns="0" rIns="0" tIns="0" bIns="0" anchor="t">
            <a:spAutoFit/>
          </a:bodyPr>
          <a:lstStyle/>
          <a:p>
            <a:r>
              <a:rPr sz="1100" b="1" i="0">
                <a:solidFill>
                  <a:srgbClr val="E8A33D"/>
                </a:solidFill>
              </a:rPr>
              <a:t>Primary persona</a:t>
            </a:r>
          </a:p>
        </p:txBody>
      </p:sp>
      <p:sp>
        <p:nvSpPr>
          <p:cNvPr id="5" name="TextBox 4"/>
          <p:cNvSpPr txBox="1"/>
          <p:nvPr/>
        </p:nvSpPr>
        <p:spPr>
          <a:xfrm>
            <a:off x="868680" y="2011680"/>
            <a:ext cx="3657600" cy="731520"/>
          </a:xfrm>
          <a:prstGeom prst="rect">
            <a:avLst/>
          </a:prstGeom>
          <a:noFill/>
        </p:spPr>
        <p:txBody>
          <a:bodyPr wrap="square" lIns="0" rIns="0" tIns="0" bIns="0" anchor="t">
            <a:spAutoFit/>
          </a:bodyPr>
          <a:lstStyle/>
          <a:p>
            <a:r>
              <a:rPr sz="2000" b="1" i="0">
                <a:solidFill>
                  <a:srgbClr val="FFFFFF"/>
                </a:solidFill>
                <a:latin typeface="Cambria"/>
              </a:rPr>
              <a:t>Priya Nair, Senior Caseworker</a:t>
            </a:r>
          </a:p>
        </p:txBody>
      </p:sp>
      <p:sp>
        <p:nvSpPr>
          <p:cNvPr id="6" name="TextBox 5"/>
          <p:cNvSpPr txBox="1"/>
          <p:nvPr/>
        </p:nvSpPr>
        <p:spPr>
          <a:xfrm>
            <a:off x="868680" y="2880360"/>
            <a:ext cx="3657600" cy="3017520"/>
          </a:xfrm>
          <a:prstGeom prst="rect">
            <a:avLst/>
          </a:prstGeom>
          <a:noFill/>
        </p:spPr>
        <p:txBody>
          <a:bodyPr wrap="square" lIns="0" rIns="0" tIns="0" bIns="0" anchor="t">
            <a:spAutoFit/>
          </a:bodyPr>
          <a:lstStyle/>
          <a:p>
            <a:pPr>
              <a:spcAft>
                <a:spcPts val="800"/>
              </a:spcAft>
            </a:pPr>
            <a:r>
              <a:rPr sz="1300" b="0" i="0">
                <a:solidFill>
                  <a:srgbClr val="FFFFFF"/>
                </a:solidFill>
              </a:rPr>
              <a:t>•  160 open cases across Riverside and Northport; 11 years at the agency.</a:t>
            </a:r>
          </a:p>
          <a:p>
            <a:pPr>
              <a:spcAft>
                <a:spcPts val="800"/>
              </a:spcAft>
            </a:pPr>
            <a:r>
              <a:rPr sz="1300" b="0" i="0">
                <a:solidFill>
                  <a:srgbClr val="FFFFFF"/>
                </a:solidFill>
              </a:rPr>
              <a:t>•  Inbox of registry notices, hospital summaries, employer notices and citizen messages in 7 languages.</a:t>
            </a:r>
          </a:p>
          <a:p>
            <a:pPr>
              <a:spcAft>
                <a:spcPts val="800"/>
              </a:spcAft>
            </a:pPr>
            <a:r>
              <a:rPr sz="1300" b="0" i="0">
                <a:solidFill>
                  <a:srgbClr val="FFFFFF"/>
                </a:solidFill>
              </a:rPr>
              <a:t>•  Checks only the scheme a citizen asks about, because a full check takes 45 minutes.</a:t>
            </a:r>
          </a:p>
          <a:p>
            <a:pPr>
              <a:spcAft>
                <a:spcPts val="800"/>
              </a:spcAft>
            </a:pPr>
            <a:r>
              <a:rPr sz="1300" b="0" i="0">
                <a:solidFill>
                  <a:srgbClr val="FFFFFF"/>
                </a:solidFill>
              </a:rPr>
              <a:t>•  Goal: reach families before the crisis, and get every amount right first time.</a:t>
            </a:r>
          </a:p>
        </p:txBody>
      </p:sp>
      <p:sp>
        <p:nvSpPr>
          <p:cNvPr id="7" name="Rounded Rectangle 6"/>
          <p:cNvSpPr/>
          <p:nvPr/>
        </p:nvSpPr>
        <p:spPr>
          <a:xfrm>
            <a:off x="5120640" y="1463040"/>
            <a:ext cx="6492240" cy="1051560"/>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0" y="1600200"/>
            <a:ext cx="6035040" cy="548640"/>
          </a:xfrm>
          <a:prstGeom prst="rect">
            <a:avLst/>
          </a:prstGeom>
          <a:noFill/>
        </p:spPr>
        <p:txBody>
          <a:bodyPr wrap="square" lIns="0" rIns="0" tIns="0" bIns="0" anchor="t">
            <a:spAutoFit/>
          </a:bodyPr>
          <a:lstStyle/>
          <a:p>
            <a:r>
              <a:rPr sz="1500" b="0" i="1">
                <a:solidFill>
                  <a:srgbClr val="14424C"/>
                </a:solidFill>
                <a:latin typeface="Cambria"/>
              </a:rPr>
              <a:t>“I only find out a family was entitled to help when they are already in crisis.”</a:t>
            </a:r>
          </a:p>
        </p:txBody>
      </p:sp>
      <p:sp>
        <p:nvSpPr>
          <p:cNvPr id="9" name="TextBox 8"/>
          <p:cNvSpPr txBox="1"/>
          <p:nvPr/>
        </p:nvSpPr>
        <p:spPr>
          <a:xfrm>
            <a:off x="5394960" y="2176272"/>
            <a:ext cx="6035040" cy="274320"/>
          </a:xfrm>
          <a:prstGeom prst="rect">
            <a:avLst/>
          </a:prstGeom>
          <a:noFill/>
        </p:spPr>
        <p:txBody>
          <a:bodyPr wrap="square" lIns="0" rIns="0" tIns="0" bIns="0" anchor="t">
            <a:spAutoFit/>
          </a:bodyPr>
          <a:lstStyle/>
          <a:p>
            <a:r>
              <a:rPr sz="1000" b="0" i="0">
                <a:solidFill>
                  <a:srgbClr val="5B7C99"/>
                </a:solidFill>
              </a:rPr>
              <a:t>Priya, caseworker</a:t>
            </a:r>
          </a:p>
        </p:txBody>
      </p:sp>
      <p:sp>
        <p:nvSpPr>
          <p:cNvPr id="10" name="Rounded Rectangle 9"/>
          <p:cNvSpPr/>
          <p:nvPr/>
        </p:nvSpPr>
        <p:spPr>
          <a:xfrm>
            <a:off x="5120640" y="2651760"/>
            <a:ext cx="6492240" cy="1051560"/>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0" y="2788920"/>
            <a:ext cx="6035040" cy="548640"/>
          </a:xfrm>
          <a:prstGeom prst="rect">
            <a:avLst/>
          </a:prstGeom>
          <a:noFill/>
        </p:spPr>
        <p:txBody>
          <a:bodyPr wrap="square" lIns="0" rIns="0" tIns="0" bIns="0" anchor="t">
            <a:spAutoFit/>
          </a:bodyPr>
          <a:lstStyle/>
          <a:p>
            <a:r>
              <a:rPr sz="1500" b="0" i="1">
                <a:solidFill>
                  <a:srgbClr val="14424C"/>
                </a:solidFill>
                <a:latin typeface="Cambria"/>
              </a:rPr>
              <a:t>“I can't check 12 schemes for every notice that comes in.”</a:t>
            </a:r>
          </a:p>
        </p:txBody>
      </p:sp>
      <p:sp>
        <p:nvSpPr>
          <p:cNvPr id="12" name="TextBox 11"/>
          <p:cNvSpPr txBox="1"/>
          <p:nvPr/>
        </p:nvSpPr>
        <p:spPr>
          <a:xfrm>
            <a:off x="5394960" y="3364992"/>
            <a:ext cx="6035040" cy="274320"/>
          </a:xfrm>
          <a:prstGeom prst="rect">
            <a:avLst/>
          </a:prstGeom>
          <a:noFill/>
        </p:spPr>
        <p:txBody>
          <a:bodyPr wrap="square" lIns="0" rIns="0" tIns="0" bIns="0" anchor="t">
            <a:spAutoFit/>
          </a:bodyPr>
          <a:lstStyle/>
          <a:p>
            <a:r>
              <a:rPr sz="1000" b="0" i="0">
                <a:solidFill>
                  <a:srgbClr val="5B7C99"/>
                </a:solidFill>
              </a:rPr>
              <a:t>Priya, caseworker</a:t>
            </a:r>
          </a:p>
        </p:txBody>
      </p:sp>
      <p:sp>
        <p:nvSpPr>
          <p:cNvPr id="13" name="Rounded Rectangle 12"/>
          <p:cNvSpPr/>
          <p:nvPr/>
        </p:nvSpPr>
        <p:spPr>
          <a:xfrm>
            <a:off x="5120640" y="3840480"/>
            <a:ext cx="6492240" cy="1051560"/>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3977640"/>
            <a:ext cx="6035040" cy="548640"/>
          </a:xfrm>
          <a:prstGeom prst="rect">
            <a:avLst/>
          </a:prstGeom>
          <a:noFill/>
        </p:spPr>
        <p:txBody>
          <a:bodyPr wrap="square" lIns="0" rIns="0" tIns="0" bIns="0" anchor="t">
            <a:spAutoFit/>
          </a:bodyPr>
          <a:lstStyle/>
          <a:p>
            <a:r>
              <a:rPr sz="1500" b="0" i="1">
                <a:solidFill>
                  <a:srgbClr val="14424C"/>
                </a:solidFill>
                <a:latin typeface="Cambria"/>
              </a:rPr>
              <a:t>“If I get an amount wrong, it's on me.”</a:t>
            </a:r>
          </a:p>
        </p:txBody>
      </p:sp>
      <p:sp>
        <p:nvSpPr>
          <p:cNvPr id="15" name="TextBox 14"/>
          <p:cNvSpPr txBox="1"/>
          <p:nvPr/>
        </p:nvSpPr>
        <p:spPr>
          <a:xfrm>
            <a:off x="5394960" y="4553712"/>
            <a:ext cx="6035040" cy="274320"/>
          </a:xfrm>
          <a:prstGeom prst="rect">
            <a:avLst/>
          </a:prstGeom>
          <a:noFill/>
        </p:spPr>
        <p:txBody>
          <a:bodyPr wrap="square" lIns="0" rIns="0" tIns="0" bIns="0" anchor="t">
            <a:spAutoFit/>
          </a:bodyPr>
          <a:lstStyle/>
          <a:p>
            <a:r>
              <a:rPr sz="1000" b="0" i="0">
                <a:solidFill>
                  <a:srgbClr val="5B7C99"/>
                </a:solidFill>
              </a:rPr>
              <a:t>Priya, caseworker</a:t>
            </a:r>
          </a:p>
        </p:txBody>
      </p:sp>
      <p:sp>
        <p:nvSpPr>
          <p:cNvPr id="16" name="Rounded Rectangle 15"/>
          <p:cNvSpPr/>
          <p:nvPr/>
        </p:nvSpPr>
        <p:spPr>
          <a:xfrm>
            <a:off x="5120640" y="5029200"/>
            <a:ext cx="6492240" cy="1051560"/>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94960" y="5166360"/>
            <a:ext cx="6035040" cy="548640"/>
          </a:xfrm>
          <a:prstGeom prst="rect">
            <a:avLst/>
          </a:prstGeom>
          <a:noFill/>
        </p:spPr>
        <p:txBody>
          <a:bodyPr wrap="square" lIns="0" rIns="0" tIns="0" bIns="0" anchor="t">
            <a:spAutoFit/>
          </a:bodyPr>
          <a:lstStyle/>
          <a:p>
            <a:r>
              <a:rPr sz="1500" b="0" i="1">
                <a:solidFill>
                  <a:srgbClr val="14424C"/>
                </a:solidFill>
                <a:latin typeface="Cambria"/>
              </a:rPr>
              <a:t>“I wish the death registry told me before the funeral, not after.”</a:t>
            </a:r>
          </a:p>
        </p:txBody>
      </p:sp>
      <p:sp>
        <p:nvSpPr>
          <p:cNvPr id="18" name="TextBox 17"/>
          <p:cNvSpPr txBox="1"/>
          <p:nvPr/>
        </p:nvSpPr>
        <p:spPr>
          <a:xfrm>
            <a:off x="5394960" y="5742432"/>
            <a:ext cx="6035040" cy="274320"/>
          </a:xfrm>
          <a:prstGeom prst="rect">
            <a:avLst/>
          </a:prstGeom>
          <a:noFill/>
        </p:spPr>
        <p:txBody>
          <a:bodyPr wrap="square" lIns="0" rIns="0" tIns="0" bIns="0" anchor="t">
            <a:spAutoFit/>
          </a:bodyPr>
          <a:lstStyle/>
          <a:p>
            <a:r>
              <a:rPr sz="1000" b="0" i="0">
                <a:solidFill>
                  <a:srgbClr val="5B7C99"/>
                </a:solidFill>
              </a:rPr>
              <a:t>Citizen, recently bereaved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Five whys lead to one root cause: services wait to be asked</a:t>
            </a:r>
          </a:p>
        </p:txBody>
      </p:sp>
      <p:sp>
        <p:nvSpPr>
          <p:cNvPr id="3" name="Rounded Rectangle 2"/>
          <p:cNvSpPr/>
          <p:nvPr/>
        </p:nvSpPr>
        <p:spPr>
          <a:xfrm>
            <a:off x="548640" y="1508760"/>
            <a:ext cx="2103120" cy="251460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 y="173736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457200" cy="457200"/>
          </a:xfrm>
          <a:prstGeom prst="rect">
            <a:avLst/>
          </a:prstGeom>
          <a:noFill/>
        </p:spPr>
        <p:txBody>
          <a:bodyPr wrap="square" lIns="0" rIns="0" tIns="0" bIns="0" anchor="ctr">
            <a:spAutoFit/>
          </a:bodyPr>
          <a:lstStyle/>
          <a:p>
            <a:pPr algn="ctr"/>
            <a:r>
              <a:rPr sz="1200" b="1" i="0">
                <a:solidFill>
                  <a:srgbClr val="FFFFFF"/>
                </a:solidFill>
              </a:rPr>
              <a:t>1</a:t>
            </a:r>
          </a:p>
        </p:txBody>
      </p:sp>
      <p:sp>
        <p:nvSpPr>
          <p:cNvPr id="6" name="TextBox 5"/>
          <p:cNvSpPr txBox="1"/>
          <p:nvPr/>
        </p:nvSpPr>
        <p:spPr>
          <a:xfrm>
            <a:off x="777240" y="2331720"/>
            <a:ext cx="1645920" cy="640080"/>
          </a:xfrm>
          <a:prstGeom prst="rect">
            <a:avLst/>
          </a:prstGeom>
          <a:noFill/>
        </p:spPr>
        <p:txBody>
          <a:bodyPr wrap="square" lIns="0" rIns="0" tIns="0" bIns="0" anchor="t">
            <a:spAutoFit/>
          </a:bodyPr>
          <a:lstStyle/>
          <a:p>
            <a:r>
              <a:rPr sz="1400" b="1" i="0">
                <a:solidFill>
                  <a:srgbClr val="14424C"/>
                </a:solidFill>
              </a:rPr>
              <a:t>Support comes late</a:t>
            </a:r>
          </a:p>
        </p:txBody>
      </p:sp>
      <p:sp>
        <p:nvSpPr>
          <p:cNvPr id="7" name="TextBox 6"/>
          <p:cNvSpPr txBox="1"/>
          <p:nvPr/>
        </p:nvSpPr>
        <p:spPr>
          <a:xfrm>
            <a:off x="777240" y="2971800"/>
            <a:ext cx="1645920" cy="960120"/>
          </a:xfrm>
          <a:prstGeom prst="rect">
            <a:avLst/>
          </a:prstGeom>
          <a:noFill/>
        </p:spPr>
        <p:txBody>
          <a:bodyPr wrap="square" lIns="0" rIns="0" tIns="0" bIns="0" anchor="t">
            <a:spAutoFit/>
          </a:bodyPr>
          <a:lstStyle/>
          <a:p>
            <a:r>
              <a:rPr sz="1200" b="0" i="0">
                <a:solidFill>
                  <a:srgbClr val="1D2B30"/>
                </a:solidFill>
              </a:rPr>
              <a:t>42% of households with a life event claimed nothing in a year.</a:t>
            </a:r>
          </a:p>
        </p:txBody>
      </p:sp>
      <p:sp>
        <p:nvSpPr>
          <p:cNvPr id="8" name="Rounded Rectangle 7"/>
          <p:cNvSpPr/>
          <p:nvPr/>
        </p:nvSpPr>
        <p:spPr>
          <a:xfrm>
            <a:off x="2788920" y="1508760"/>
            <a:ext cx="2103120" cy="251460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017520" y="173736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737360"/>
            <a:ext cx="457200" cy="457200"/>
          </a:xfrm>
          <a:prstGeom prst="rect">
            <a:avLst/>
          </a:prstGeom>
          <a:noFill/>
        </p:spPr>
        <p:txBody>
          <a:bodyPr wrap="square" lIns="0" rIns="0" tIns="0" bIns="0" anchor="ctr">
            <a:spAutoFit/>
          </a:bodyPr>
          <a:lstStyle/>
          <a:p>
            <a:pPr algn="ctr"/>
            <a:r>
              <a:rPr sz="1200" b="1" i="0">
                <a:solidFill>
                  <a:srgbClr val="FFFFFF"/>
                </a:solidFill>
              </a:rPr>
              <a:t>2</a:t>
            </a:r>
          </a:p>
        </p:txBody>
      </p:sp>
      <p:sp>
        <p:nvSpPr>
          <p:cNvPr id="11" name="TextBox 10"/>
          <p:cNvSpPr txBox="1"/>
          <p:nvPr/>
        </p:nvSpPr>
        <p:spPr>
          <a:xfrm>
            <a:off x="3017520" y="2331720"/>
            <a:ext cx="1645920" cy="640080"/>
          </a:xfrm>
          <a:prstGeom prst="rect">
            <a:avLst/>
          </a:prstGeom>
          <a:noFill/>
        </p:spPr>
        <p:txBody>
          <a:bodyPr wrap="square" lIns="0" rIns="0" tIns="0" bIns="0" anchor="t">
            <a:spAutoFit/>
          </a:bodyPr>
          <a:lstStyle/>
          <a:p>
            <a:r>
              <a:rPr sz="1400" b="1" i="0">
                <a:solidFill>
                  <a:srgbClr val="14424C"/>
                </a:solidFill>
              </a:rPr>
              <a:t>People don't apply</a:t>
            </a:r>
          </a:p>
        </p:txBody>
      </p:sp>
      <p:sp>
        <p:nvSpPr>
          <p:cNvPr id="12" name="TextBox 11"/>
          <p:cNvSpPr txBox="1"/>
          <p:nvPr/>
        </p:nvSpPr>
        <p:spPr>
          <a:xfrm>
            <a:off x="3017520" y="2971800"/>
            <a:ext cx="1645920" cy="960120"/>
          </a:xfrm>
          <a:prstGeom prst="rect">
            <a:avLst/>
          </a:prstGeom>
          <a:noFill/>
        </p:spPr>
        <p:txBody>
          <a:bodyPr wrap="square" lIns="0" rIns="0" tIns="0" bIns="0" anchor="t">
            <a:spAutoFit/>
          </a:bodyPr>
          <a:lstStyle/>
          <a:p>
            <a:r>
              <a:rPr sz="1200" b="0" i="0">
                <a:solidFill>
                  <a:srgbClr val="1D2B30"/>
                </a:solidFill>
              </a:rPr>
              <a:t>They don't know which of 12 schemes fit, and forms repeat the same questions.</a:t>
            </a:r>
          </a:p>
        </p:txBody>
      </p:sp>
      <p:sp>
        <p:nvSpPr>
          <p:cNvPr id="13" name="Rounded Rectangle 12"/>
          <p:cNvSpPr/>
          <p:nvPr/>
        </p:nvSpPr>
        <p:spPr>
          <a:xfrm>
            <a:off x="5029200" y="1508760"/>
            <a:ext cx="2103120" cy="251460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257800" y="173736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1737360"/>
            <a:ext cx="457200" cy="457200"/>
          </a:xfrm>
          <a:prstGeom prst="rect">
            <a:avLst/>
          </a:prstGeom>
          <a:noFill/>
        </p:spPr>
        <p:txBody>
          <a:bodyPr wrap="square" lIns="0" rIns="0" tIns="0" bIns="0" anchor="ctr">
            <a:spAutoFit/>
          </a:bodyPr>
          <a:lstStyle/>
          <a:p>
            <a:pPr algn="ctr"/>
            <a:r>
              <a:rPr sz="1200" b="1" i="0">
                <a:solidFill>
                  <a:srgbClr val="FFFFFF"/>
                </a:solidFill>
              </a:rPr>
              <a:t>3</a:t>
            </a:r>
          </a:p>
        </p:txBody>
      </p:sp>
      <p:sp>
        <p:nvSpPr>
          <p:cNvPr id="16" name="TextBox 15"/>
          <p:cNvSpPr txBox="1"/>
          <p:nvPr/>
        </p:nvSpPr>
        <p:spPr>
          <a:xfrm>
            <a:off x="5257800" y="2331720"/>
            <a:ext cx="1645920" cy="640080"/>
          </a:xfrm>
          <a:prstGeom prst="rect">
            <a:avLst/>
          </a:prstGeom>
          <a:noFill/>
        </p:spPr>
        <p:txBody>
          <a:bodyPr wrap="square" lIns="0" rIns="0" tIns="0" bIns="0" anchor="t">
            <a:spAutoFit/>
          </a:bodyPr>
          <a:lstStyle/>
          <a:p>
            <a:r>
              <a:rPr sz="1400" b="1" i="0">
                <a:solidFill>
                  <a:srgbClr val="14424C"/>
                </a:solidFill>
              </a:rPr>
              <a:t>The agency doesn't tell them</a:t>
            </a:r>
          </a:p>
        </p:txBody>
      </p:sp>
      <p:sp>
        <p:nvSpPr>
          <p:cNvPr id="17" name="TextBox 16"/>
          <p:cNvSpPr txBox="1"/>
          <p:nvPr/>
        </p:nvSpPr>
        <p:spPr>
          <a:xfrm>
            <a:off x="5257800" y="2971800"/>
            <a:ext cx="1645920" cy="960120"/>
          </a:xfrm>
          <a:prstGeom prst="rect">
            <a:avLst/>
          </a:prstGeom>
          <a:noFill/>
        </p:spPr>
        <p:txBody>
          <a:bodyPr wrap="square" lIns="0" rIns="0" tIns="0" bIns="0" anchor="t">
            <a:spAutoFit/>
          </a:bodyPr>
          <a:lstStyle/>
          <a:p>
            <a:r>
              <a:rPr sz="1200" b="0" i="0">
                <a:solidFill>
                  <a:srgbClr val="1D2B30"/>
                </a:solidFill>
              </a:rPr>
              <a:t>It receives the event, but nobody checks it against every scheme.</a:t>
            </a:r>
          </a:p>
        </p:txBody>
      </p:sp>
      <p:sp>
        <p:nvSpPr>
          <p:cNvPr id="18" name="Rounded Rectangle 17"/>
          <p:cNvSpPr/>
          <p:nvPr/>
        </p:nvSpPr>
        <p:spPr>
          <a:xfrm>
            <a:off x="7269480" y="1508760"/>
            <a:ext cx="2103120" cy="251460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0" y="173736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0" y="1737360"/>
            <a:ext cx="457200" cy="457200"/>
          </a:xfrm>
          <a:prstGeom prst="rect">
            <a:avLst/>
          </a:prstGeom>
          <a:noFill/>
        </p:spPr>
        <p:txBody>
          <a:bodyPr wrap="square" lIns="0" rIns="0" tIns="0" bIns="0" anchor="ctr">
            <a:spAutoFit/>
          </a:bodyPr>
          <a:lstStyle/>
          <a:p>
            <a:pPr algn="ctr"/>
            <a:r>
              <a:rPr sz="1200" b="1" i="0">
                <a:solidFill>
                  <a:srgbClr val="FFFFFF"/>
                </a:solidFill>
              </a:rPr>
              <a:t>4</a:t>
            </a:r>
          </a:p>
        </p:txBody>
      </p:sp>
      <p:sp>
        <p:nvSpPr>
          <p:cNvPr id="21" name="TextBox 20"/>
          <p:cNvSpPr txBox="1"/>
          <p:nvPr/>
        </p:nvSpPr>
        <p:spPr>
          <a:xfrm>
            <a:off x="7498080" y="2331720"/>
            <a:ext cx="1645920" cy="640080"/>
          </a:xfrm>
          <a:prstGeom prst="rect">
            <a:avLst/>
          </a:prstGeom>
          <a:noFill/>
        </p:spPr>
        <p:txBody>
          <a:bodyPr wrap="square" lIns="0" rIns="0" tIns="0" bIns="0" anchor="t">
            <a:spAutoFit/>
          </a:bodyPr>
          <a:lstStyle/>
          <a:p>
            <a:r>
              <a:rPr sz="1400" b="1" i="0">
                <a:solidFill>
                  <a:srgbClr val="14424C"/>
                </a:solidFill>
              </a:rPr>
              <a:t>A check takes 45 minutes</a:t>
            </a:r>
          </a:p>
        </p:txBody>
      </p:sp>
      <p:sp>
        <p:nvSpPr>
          <p:cNvPr id="22" name="TextBox 21"/>
          <p:cNvSpPr txBox="1"/>
          <p:nvPr/>
        </p:nvSpPr>
        <p:spPr>
          <a:xfrm>
            <a:off x="7498080" y="2971800"/>
            <a:ext cx="1645920" cy="960120"/>
          </a:xfrm>
          <a:prstGeom prst="rect">
            <a:avLst/>
          </a:prstGeom>
          <a:noFill/>
        </p:spPr>
        <p:txBody>
          <a:bodyPr wrap="square" lIns="0" rIns="0" tIns="0" bIns="0" anchor="t">
            <a:spAutoFit/>
          </a:bodyPr>
          <a:lstStyle/>
          <a:p>
            <a:r>
              <a:rPr sz="1200" b="0" i="0">
                <a:solidFill>
                  <a:srgbClr val="1D2B30"/>
                </a:solidFill>
              </a:rPr>
              <a:t>Facts sit in free text, records are stale, rules span 12 rulebooks.</a:t>
            </a:r>
          </a:p>
        </p:txBody>
      </p:sp>
      <p:sp>
        <p:nvSpPr>
          <p:cNvPr id="23" name="Rounded Rectangle 22"/>
          <p:cNvSpPr/>
          <p:nvPr/>
        </p:nvSpPr>
        <p:spPr>
          <a:xfrm>
            <a:off x="9509760" y="1508760"/>
            <a:ext cx="2103120" cy="251460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38360" y="1737360"/>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38360" y="1737360"/>
            <a:ext cx="457200" cy="457200"/>
          </a:xfrm>
          <a:prstGeom prst="rect">
            <a:avLst/>
          </a:prstGeom>
          <a:noFill/>
        </p:spPr>
        <p:txBody>
          <a:bodyPr wrap="square" lIns="0" rIns="0" tIns="0" bIns="0" anchor="ctr">
            <a:spAutoFit/>
          </a:bodyPr>
          <a:lstStyle/>
          <a:p>
            <a:pPr algn="ctr"/>
            <a:r>
              <a:rPr sz="1200" b="1" i="0">
                <a:solidFill>
                  <a:srgbClr val="FFFFFF"/>
                </a:solidFill>
              </a:rPr>
              <a:t>5</a:t>
            </a:r>
          </a:p>
        </p:txBody>
      </p:sp>
      <p:sp>
        <p:nvSpPr>
          <p:cNvPr id="26" name="TextBox 25"/>
          <p:cNvSpPr txBox="1"/>
          <p:nvPr/>
        </p:nvSpPr>
        <p:spPr>
          <a:xfrm>
            <a:off x="9738360" y="2331720"/>
            <a:ext cx="1645920" cy="640080"/>
          </a:xfrm>
          <a:prstGeom prst="rect">
            <a:avLst/>
          </a:prstGeom>
          <a:noFill/>
        </p:spPr>
        <p:txBody>
          <a:bodyPr wrap="square" lIns="0" rIns="0" tIns="0" bIns="0" anchor="t">
            <a:spAutoFit/>
          </a:bodyPr>
          <a:lstStyle/>
          <a:p>
            <a:r>
              <a:rPr sz="1400" b="1" i="0">
                <a:solidFill>
                  <a:srgbClr val="14424C"/>
                </a:solidFill>
              </a:rPr>
              <a:t>Built for 'pull'</a:t>
            </a:r>
          </a:p>
        </p:txBody>
      </p:sp>
      <p:sp>
        <p:nvSpPr>
          <p:cNvPr id="27" name="TextBox 26"/>
          <p:cNvSpPr txBox="1"/>
          <p:nvPr/>
        </p:nvSpPr>
        <p:spPr>
          <a:xfrm>
            <a:off x="9738360" y="2971800"/>
            <a:ext cx="1645920" cy="960120"/>
          </a:xfrm>
          <a:prstGeom prst="rect">
            <a:avLst/>
          </a:prstGeom>
          <a:noFill/>
        </p:spPr>
        <p:txBody>
          <a:bodyPr wrap="square" lIns="0" rIns="0" tIns="0" bIns="0" anchor="t">
            <a:spAutoFit/>
          </a:bodyPr>
          <a:lstStyle/>
          <a:p>
            <a:r>
              <a:rPr sz="1200" b="0" i="0">
                <a:solidFill>
                  <a:srgbClr val="1D2B30"/>
                </a:solidFill>
              </a:rPr>
              <a:t>Every process starts when the citizen applies.</a:t>
            </a:r>
          </a:p>
        </p:txBody>
      </p:sp>
      <p:sp>
        <p:nvSpPr>
          <p:cNvPr id="28" name="Rounded Rectangle 27"/>
          <p:cNvSpPr/>
          <p:nvPr/>
        </p:nvSpPr>
        <p:spPr>
          <a:xfrm>
            <a:off x="548640" y="4343400"/>
            <a:ext cx="11064240" cy="1463040"/>
          </a:xfrm>
          <a:prstGeom prst="roundRect">
            <a:avLst>
              <a:gd name="adj" fmla="val 6000"/>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526280"/>
            <a:ext cx="2743200" cy="320040"/>
          </a:xfrm>
          <a:prstGeom prst="rect">
            <a:avLst/>
          </a:prstGeom>
          <a:noFill/>
        </p:spPr>
        <p:txBody>
          <a:bodyPr wrap="square" lIns="0" rIns="0" tIns="0" bIns="0" anchor="t">
            <a:spAutoFit/>
          </a:bodyPr>
          <a:lstStyle/>
          <a:p>
            <a:r>
              <a:rPr sz="1100" b="1" i="0">
                <a:solidFill>
                  <a:srgbClr val="E8A33D"/>
                </a:solidFill>
              </a:rPr>
              <a:t>Root cause</a:t>
            </a:r>
          </a:p>
        </p:txBody>
      </p:sp>
      <p:sp>
        <p:nvSpPr>
          <p:cNvPr id="30" name="TextBox 29"/>
          <p:cNvSpPr txBox="1"/>
          <p:nvPr/>
        </p:nvSpPr>
        <p:spPr>
          <a:xfrm>
            <a:off x="868680" y="4846320"/>
            <a:ext cx="10424160" cy="1051560"/>
          </a:xfrm>
          <a:prstGeom prst="rect">
            <a:avLst/>
          </a:prstGeom>
          <a:noFill/>
        </p:spPr>
        <p:txBody>
          <a:bodyPr wrap="square" lIns="0" rIns="0" tIns="0" bIns="0" anchor="t">
            <a:spAutoFit/>
          </a:bodyPr>
          <a:lstStyle/>
          <a:p>
            <a:r>
              <a:rPr sz="1600" b="0" i="0">
                <a:solidFill>
                  <a:srgbClr val="FFFFFF"/>
                </a:solidFill>
                <a:latin typeface="Cambria"/>
              </a:rPr>
              <a:t>No step turns a life event the agency already receives into a checked, explained offer of help that a caseworker can approve. The fix is to make the agency act first, not to make citizens try harder.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Today's queue shows the gap household by household</a:t>
            </a:r>
          </a:p>
        </p:txBody>
      </p:sp>
      <p:graphicFrame>
        <p:nvGraphicFramePr>
          <p:cNvPr id="3" name="Table 2"/>
          <p:cNvGraphicFramePr>
            <a:graphicFrameLocks noGrp="1"/>
          </p:cNvGraphicFramePr>
          <p:nvPr/>
        </p:nvGraphicFramePr>
        <p:xfrm>
          <a:off x="548640" y="1463040"/>
          <a:ext cx="11064240" cy="3900000"/>
        </p:xfrm>
        <a:graphic>
          <a:graphicData uri="http://schemas.openxmlformats.org/drawingml/2006/table">
            <a:tbl>
              <a:tblPr firstRow="1" bandRow="1">
                <a:tableStyleId>{5C22544A-7EE6-4342-B048-85BDC9FD1C3A}</a:tableStyleId>
              </a:tblPr>
              <a:tblGrid>
                <a:gridCol w="2900000"/>
                <a:gridCol w="2700000"/>
                <a:gridCol w="4164240"/>
                <a:gridCol w="1300000"/>
              </a:tblGrid>
              <a:tr h="557142">
                <a:tc>
                  <a:txBody>
                    <a:bodyPr/>
                    <a:lstStyle/>
                    <a:p>
                      <a:r>
                        <a:rPr sz="1100" b="1">
                          <a:solidFill>
                            <a:srgbClr val="FFFFFF"/>
                          </a:solidFill>
                        </a:rPr>
                        <a:t>Event</a:t>
                      </a:r>
                    </a:p>
                  </a:txBody>
                  <a:tcPr marL="91440" marR="91440">
                    <a:solidFill>
                      <a:srgbClr val="14424C"/>
                    </a:solidFill>
                  </a:tcPr>
                </a:tc>
                <a:tc>
                  <a:txBody>
                    <a:bodyPr/>
                    <a:lstStyle/>
                    <a:p>
                      <a:r>
                        <a:rPr sz="1100" b="1">
                          <a:solidFill>
                            <a:srgbClr val="FFFFFF"/>
                          </a:solidFill>
                        </a:rPr>
                        <a:t>What came in</a:t>
                      </a:r>
                    </a:p>
                  </a:txBody>
                  <a:tcPr marL="91440" marR="91440">
                    <a:solidFill>
                      <a:srgbClr val="14424C"/>
                    </a:solidFill>
                  </a:tcPr>
                </a:tc>
                <a:tc>
                  <a:txBody>
                    <a:bodyPr/>
                    <a:lstStyle/>
                    <a:p>
                      <a:r>
                        <a:rPr sz="1100" b="1">
                          <a:solidFill>
                            <a:srgbClr val="FFFFFF"/>
                          </a:solidFill>
                        </a:rPr>
                        <a:t>What BenefitBridge found</a:t>
                      </a:r>
                    </a:p>
                  </a:txBody>
                  <a:tcPr marL="91440" marR="91440">
                    <a:solidFill>
                      <a:srgbClr val="14424C"/>
                    </a:solidFill>
                  </a:tcPr>
                </a:tc>
                <a:tc>
                  <a:txBody>
                    <a:bodyPr/>
                    <a:lstStyle/>
                    <a:p>
                      <a:r>
                        <a:rPr sz="1100" b="1">
                          <a:solidFill>
                            <a:srgbClr val="FFFFFF"/>
                          </a:solidFill>
                        </a:rPr>
                        <a:t>Unclaimed / yr</a:t>
                      </a:r>
                    </a:p>
                  </a:txBody>
                  <a:tcPr marL="91440" marR="91440">
                    <a:solidFill>
                      <a:srgbClr val="14424C"/>
                    </a:solidFill>
                  </a:tcPr>
                </a:tc>
              </a:tr>
              <a:tr h="557142">
                <a:tc>
                  <a:txBody>
                    <a:bodyPr/>
                    <a:lstStyle/>
                    <a:p>
                      <a:r>
                        <a:rPr sz="1200" b="1">
                          <a:solidFill>
                            <a:srgbClr val="1D2B30"/>
                          </a:solidFill>
                        </a:rPr>
                        <a:t>Lukas Kim, bereaved (E-2018)</a:t>
                      </a:r>
                    </a:p>
                  </a:txBody>
                  <a:tcPr marL="91440" marR="91440">
                    <a:solidFill>
                      <a:srgbClr val="EEF3F2"/>
                    </a:solidFill>
                  </a:tcPr>
                </a:tc>
                <a:tc>
                  <a:txBody>
                    <a:bodyPr/>
                    <a:lstStyle/>
                    <a:p>
                      <a:r>
                        <a:rPr sz="1200" b="0">
                          <a:solidFill>
                            <a:srgbClr val="1D2B30"/>
                          </a:solidFill>
                        </a:rPr>
                        <a:t>Death registry: wife died 16 October</a:t>
                      </a:r>
                    </a:p>
                  </a:txBody>
                  <a:tcPr marL="91440" marR="91440">
                    <a:solidFill>
                      <a:srgbClr val="EEF3F2"/>
                    </a:solidFill>
                  </a:tcPr>
                </a:tc>
                <a:tc>
                  <a:txBody>
                    <a:bodyPr/>
                    <a:lstStyle/>
                    <a:p>
                      <a:r>
                        <a:rPr sz="1200" b="0">
                          <a:solidFill>
                            <a:srgbClr val="1D2B30"/>
                          </a:solidFill>
                        </a:rPr>
                        <a:t>Housing Support, Age Pension, Winter Energy; message in Mandarin</a:t>
                      </a:r>
                    </a:p>
                  </a:txBody>
                  <a:tcPr marL="91440" marR="91440">
                    <a:solidFill>
                      <a:srgbClr val="EEF3F2"/>
                    </a:solidFill>
                  </a:tcPr>
                </a:tc>
                <a:tc>
                  <a:txBody>
                    <a:bodyPr/>
                    <a:lstStyle/>
                    <a:p>
                      <a:r>
                        <a:rPr sz="1200" b="0">
                          <a:solidFill>
                            <a:srgbClr val="0F766E"/>
                          </a:solidFill>
                        </a:rPr>
                        <a:t>$17,650</a:t>
                      </a:r>
                    </a:p>
                  </a:txBody>
                  <a:tcPr marL="91440" marR="91440">
                    <a:solidFill>
                      <a:srgbClr val="EEF3F2"/>
                    </a:solidFill>
                  </a:tcPr>
                </a:tc>
              </a:tr>
              <a:tr h="557142">
                <a:tc>
                  <a:txBody>
                    <a:bodyPr/>
                    <a:lstStyle/>
                    <a:p>
                      <a:r>
                        <a:rPr sz="1200" b="1">
                          <a:solidFill>
                            <a:srgbClr val="1D2B30"/>
                          </a:solidFill>
                        </a:rPr>
                        <a:t>Diego Santos, job loss (E-2007)</a:t>
                      </a:r>
                    </a:p>
                  </a:txBody>
                  <a:tcPr marL="91440" marR="91440">
                    <a:solidFill>
                      <a:srgbClr val="FFFFFF"/>
                    </a:solidFill>
                  </a:tcPr>
                </a:tc>
                <a:tc>
                  <a:txBody>
                    <a:bodyPr/>
                    <a:lstStyle/>
                    <a:p>
                      <a:r>
                        <a:rPr sz="1200" b="0">
                          <a:solidFill>
                            <a:srgbClr val="1D2B30"/>
                          </a:solidFill>
                        </a:rPr>
                        <a:t>Employer notice + phone note</a:t>
                      </a:r>
                    </a:p>
                  </a:txBody>
                  <a:tcPr marL="91440" marR="91440">
                    <a:solidFill>
                      <a:srgbClr val="FFFFFF"/>
                    </a:solidFill>
                  </a:tcPr>
                </a:tc>
                <a:tc>
                  <a:txBody>
                    <a:bodyPr/>
                    <a:lstStyle/>
                    <a:p>
                      <a:r>
                        <a:rPr sz="1200" b="0">
                          <a:solidFill>
                            <a:srgbClr val="1D2B30"/>
                          </a:solidFill>
                        </a:rPr>
                        <a:t>4 schemes; income and savings in the record were out of date</a:t>
                      </a:r>
                    </a:p>
                  </a:txBody>
                  <a:tcPr marL="91440" marR="91440">
                    <a:solidFill>
                      <a:srgbClr val="FFFFFF"/>
                    </a:solidFill>
                  </a:tcPr>
                </a:tc>
                <a:tc>
                  <a:txBody>
                    <a:bodyPr/>
                    <a:lstStyle/>
                    <a:p>
                      <a:r>
                        <a:rPr sz="1200" b="0">
                          <a:solidFill>
                            <a:srgbClr val="0F766E"/>
                          </a:solidFill>
                        </a:rPr>
                        <a:t>$13,600</a:t>
                      </a:r>
                    </a:p>
                  </a:txBody>
                  <a:tcPr marL="91440" marR="91440">
                    <a:solidFill>
                      <a:srgbClr val="FFFFFF"/>
                    </a:solidFill>
                  </a:tcPr>
                </a:tc>
              </a:tr>
              <a:tr h="557142">
                <a:tc>
                  <a:txBody>
                    <a:bodyPr/>
                    <a:lstStyle/>
                    <a:p>
                      <a:r>
                        <a:rPr sz="1200" b="1">
                          <a:solidFill>
                            <a:srgbClr val="1D2B30"/>
                          </a:solidFill>
                        </a:rPr>
                        <a:t>Omar Torres, separation (E-2036)</a:t>
                      </a:r>
                    </a:p>
                  </a:txBody>
                  <a:tcPr marL="91440" marR="91440">
                    <a:solidFill>
                      <a:srgbClr val="EEF3F2"/>
                    </a:solidFill>
                  </a:tcPr>
                </a:tc>
                <a:tc>
                  <a:txBody>
                    <a:bodyPr/>
                    <a:lstStyle/>
                    <a:p>
                      <a:r>
                        <a:rPr sz="1200" b="0">
                          <a:solidFill>
                            <a:srgbClr val="1D2B30"/>
                          </a:solidFill>
                        </a:rPr>
                        <a:t>Citizen web message</a:t>
                      </a:r>
                    </a:p>
                  </a:txBody>
                  <a:tcPr marL="91440" marR="91440">
                    <a:solidFill>
                      <a:srgbClr val="EEF3F2"/>
                    </a:solidFill>
                  </a:tcPr>
                </a:tc>
                <a:tc>
                  <a:txBody>
                    <a:bodyPr/>
                    <a:lstStyle/>
                    <a:p>
                      <a:r>
                        <a:rPr sz="1200" b="0">
                          <a:solidFill>
                            <a:srgbClr val="1D2B30"/>
                          </a:solidFill>
                        </a:rPr>
                        <a:t>Housing Support and Childcare, but he opted out of contact: no draft</a:t>
                      </a:r>
                    </a:p>
                  </a:txBody>
                  <a:tcPr marL="91440" marR="91440">
                    <a:solidFill>
                      <a:srgbClr val="EEF3F2"/>
                    </a:solidFill>
                  </a:tcPr>
                </a:tc>
                <a:tc>
                  <a:txBody>
                    <a:bodyPr/>
                    <a:lstStyle/>
                    <a:p>
                      <a:r>
                        <a:rPr sz="1200" b="0">
                          <a:solidFill>
                            <a:srgbClr val="0F766E"/>
                          </a:solidFill>
                        </a:rPr>
                        <a:t>$7,980</a:t>
                      </a:r>
                    </a:p>
                  </a:txBody>
                  <a:tcPr marL="91440" marR="91440">
                    <a:solidFill>
                      <a:srgbClr val="EEF3F2"/>
                    </a:solidFill>
                  </a:tcPr>
                </a:tc>
              </a:tr>
              <a:tr h="557142">
                <a:tc>
                  <a:txBody>
                    <a:bodyPr/>
                    <a:lstStyle/>
                    <a:p>
                      <a:r>
                        <a:rPr sz="1200" b="1">
                          <a:solidFill>
                            <a:srgbClr val="1D2B30"/>
                          </a:solidFill>
                        </a:rPr>
                        <a:t>Hana Fischer, stroke (E-2020)</a:t>
                      </a:r>
                    </a:p>
                  </a:txBody>
                  <a:tcPr marL="91440" marR="91440">
                    <a:solidFill>
                      <a:srgbClr val="FFFFFF"/>
                    </a:solidFill>
                  </a:tcPr>
                </a:tc>
                <a:tc>
                  <a:txBody>
                    <a:bodyPr/>
                    <a:lstStyle/>
                    <a:p>
                      <a:r>
                        <a:rPr sz="1200" b="0">
                          <a:solidFill>
                            <a:srgbClr val="1D2B30"/>
                          </a:solidFill>
                        </a:rPr>
                        <a:t>Hospital discharge summary</a:t>
                      </a:r>
                    </a:p>
                  </a:txBody>
                  <a:tcPr marL="91440" marR="91440">
                    <a:solidFill>
                      <a:srgbClr val="FFFFFF"/>
                    </a:solidFill>
                  </a:tcPr>
                </a:tc>
                <a:tc>
                  <a:txBody>
                    <a:bodyPr/>
                    <a:lstStyle/>
                    <a:p>
                      <a:r>
                        <a:rPr sz="1200" b="0">
                          <a:solidFill>
                            <a:srgbClr val="1D2B30"/>
                          </a:solidFill>
                        </a:rPr>
                        <a:t>Carer Allowance for her partner; Disability Support needs an assessor</a:t>
                      </a:r>
                    </a:p>
                  </a:txBody>
                  <a:tcPr marL="91440" marR="91440">
                    <a:solidFill>
                      <a:srgbClr val="FFFFFF"/>
                    </a:solidFill>
                  </a:tcPr>
                </a:tc>
                <a:tc>
                  <a:txBody>
                    <a:bodyPr/>
                    <a:lstStyle/>
                    <a:p>
                      <a:r>
                        <a:rPr sz="1200" b="0">
                          <a:solidFill>
                            <a:srgbClr val="0F766E"/>
                          </a:solidFill>
                        </a:rPr>
                        <a:t>$3,840</a:t>
                      </a:r>
                    </a:p>
                  </a:txBody>
                  <a:tcPr marL="91440" marR="91440">
                    <a:solidFill>
                      <a:srgbClr val="FFFFFF"/>
                    </a:solidFill>
                  </a:tcPr>
                </a:tc>
              </a:tr>
              <a:tr h="557142">
                <a:tc>
                  <a:txBody>
                    <a:bodyPr/>
                    <a:lstStyle/>
                    <a:p>
                      <a:r>
                        <a:rPr sz="1200" b="1">
                          <a:solidFill>
                            <a:srgbClr val="1D2B30"/>
                          </a:solidFill>
                        </a:rPr>
                        <a:t>Maya Silva, eviction (E-2029)</a:t>
                      </a:r>
                    </a:p>
                  </a:txBody>
                  <a:tcPr marL="91440" marR="91440">
                    <a:solidFill>
                      <a:srgbClr val="EEF3F2"/>
                    </a:solidFill>
                  </a:tcPr>
                </a:tc>
                <a:tc>
                  <a:txBody>
                    <a:bodyPr/>
                    <a:lstStyle/>
                    <a:p>
                      <a:r>
                        <a:rPr sz="1200" b="0">
                          <a:solidFill>
                            <a:srgbClr val="1D2B30"/>
                          </a:solidFill>
                        </a:rPr>
                        <a:t>Caseworker phone note</a:t>
                      </a:r>
                    </a:p>
                  </a:txBody>
                  <a:tcPr marL="91440" marR="91440">
                    <a:solidFill>
                      <a:srgbClr val="EEF3F2"/>
                    </a:solidFill>
                  </a:tcPr>
                </a:tc>
                <a:tc>
                  <a:txBody>
                    <a:bodyPr/>
                    <a:lstStyle/>
                    <a:p>
                      <a:r>
                        <a:rPr sz="1200" b="0">
                          <a:solidFill>
                            <a:srgbClr val="1D2B30"/>
                          </a:solidFill>
                        </a:rPr>
                        <a:t>Crisis: ranked Urgent, Hardship Grant sent to a caseworker</a:t>
                      </a:r>
                    </a:p>
                  </a:txBody>
                  <a:tcPr marL="91440" marR="91440">
                    <a:solidFill>
                      <a:srgbClr val="EEF3F2"/>
                    </a:solidFill>
                  </a:tcPr>
                </a:tc>
                <a:tc>
                  <a:txBody>
                    <a:bodyPr/>
                    <a:lstStyle/>
                    <a:p>
                      <a:r>
                        <a:rPr sz="1200" b="0">
                          <a:solidFill>
                            <a:srgbClr val="C2463F"/>
                          </a:solidFill>
                        </a:rPr>
                        <a:t>Urgent</a:t>
                      </a:r>
                    </a:p>
                  </a:txBody>
                  <a:tcPr marL="91440" marR="91440">
                    <a:solidFill>
                      <a:srgbClr val="EEF3F2"/>
                    </a:solidFill>
                  </a:tcPr>
                </a:tc>
              </a:tr>
              <a:tr h="557148">
                <a:tc>
                  <a:txBody>
                    <a:bodyPr/>
                    <a:lstStyle/>
                    <a:p>
                      <a:r>
                        <a:rPr sz="1200" b="1">
                          <a:solidFill>
                            <a:srgbClr val="1D2B30"/>
                          </a:solidFill>
                        </a:rPr>
                        <a:t>Lukas Mensah (E-2033)</a:t>
                      </a:r>
                    </a:p>
                  </a:txBody>
                  <a:tcPr marL="91440" marR="91440">
                    <a:solidFill>
                      <a:srgbClr val="FFFFFF"/>
                    </a:solidFill>
                  </a:tcPr>
                </a:tc>
                <a:tc>
                  <a:txBody>
                    <a:bodyPr/>
                    <a:lstStyle/>
                    <a:p>
                      <a:r>
                        <a:rPr sz="1200" b="0">
                          <a:solidFill>
                            <a:srgbClr val="1D2B30"/>
                          </a:solidFill>
                        </a:rPr>
                        <a:t>Web message in Spanish</a:t>
                      </a:r>
                    </a:p>
                  </a:txBody>
                  <a:tcPr marL="91440" marR="91440">
                    <a:solidFill>
                      <a:srgbClr val="FFFFFF"/>
                    </a:solidFill>
                  </a:tcPr>
                </a:tc>
                <a:tc>
                  <a:txBody>
                    <a:bodyPr/>
                    <a:lstStyle/>
                    <a:p>
                      <a:r>
                        <a:rPr sz="1200" b="0">
                          <a:solidFill>
                            <a:srgbClr val="1D2B30"/>
                          </a:solidFill>
                        </a:rPr>
                        <a:t>Offline mode can't read it, so a person reads it first</a:t>
                      </a:r>
                    </a:p>
                  </a:txBody>
                  <a:tcPr marL="91440" marR="91440">
                    <a:solidFill>
                      <a:srgbClr val="FFFFFF"/>
                    </a:solidFill>
                  </a:tcPr>
                </a:tc>
                <a:tc>
                  <a:txBody>
                    <a:bodyPr/>
                    <a:lstStyle/>
                    <a:p>
                      <a:r>
                        <a:rPr sz="1200" b="0">
                          <a:solidFill>
                            <a:srgbClr val="C2463F"/>
                          </a:solidFill>
                        </a:rPr>
                        <a:t>Read now</a:t>
                      </a:r>
                    </a:p>
                  </a:txBody>
                  <a:tcPr marL="91440" marR="91440">
                    <a:solidFill>
                      <a:srgbClr val="FFFFFF"/>
                    </a:solidFill>
                  </a:tcPr>
                </a:tc>
              </a:tr>
            </a:tbl>
          </a:graphicData>
        </a:graphic>
      </p:graphicFrame>
      <p:sp>
        <p:nvSpPr>
          <p:cNvPr id="4" name="TextBox 3"/>
          <p:cNvSpPr txBox="1"/>
          <p:nvPr/>
        </p:nvSpPr>
        <p:spPr>
          <a:xfrm>
            <a:off x="548640" y="5760720"/>
            <a:ext cx="11064240" cy="457200"/>
          </a:xfrm>
          <a:prstGeom prst="rect">
            <a:avLst/>
          </a:prstGeom>
          <a:noFill/>
        </p:spPr>
        <p:txBody>
          <a:bodyPr wrap="square" lIns="0" rIns="0" tIns="0" bIns="0" anchor="t">
            <a:spAutoFit/>
          </a:bodyPr>
          <a:lstStyle/>
          <a:p>
            <a:r>
              <a:rPr sz="1100" b="0" i="0">
                <a:solidFill>
                  <a:srgbClr val="5B7C99"/>
                </a:solidFill>
              </a:rPr>
              <a:t>Across all 40 events: 29 households with support they are not claiming, worth $208,720 a year; 1 urgent; 2 unreadable; 5 need a caseworker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We scored 14 AI opportunities and built the top seven</a:t>
            </a:r>
          </a:p>
        </p:txBody>
      </p:sp>
      <p:graphicFrame>
        <p:nvGraphicFramePr>
          <p:cNvPr id="3" name="Chart 2"/>
          <p:cNvGraphicFramePr>
            <a:graphicFrameLocks noGrp="1"/>
          </p:cNvGraphicFramePr>
          <p:nvPr/>
        </p:nvGraphicFramePr>
        <p:xfrm>
          <a:off x="548640" y="1371600"/>
          <a:ext cx="6949440" cy="4846320"/>
        </p:xfrm>
        <a:graphic>
          <a:graphicData uri="http://schemas.openxmlformats.org/drawingml/2006/chart">
            <c:chart xmlns:c="http://schemas.openxmlformats.org/drawingml/2006/chart" r:id="rId3"/>
          </a:graphicData>
        </a:graphic>
      </p:graphicFrame>
      <p:sp>
        <p:nvSpPr>
          <p:cNvPr id="4" name="Rounded Rectangle 3"/>
          <p:cNvSpPr/>
          <p:nvPr/>
        </p:nvSpPr>
        <p:spPr>
          <a:xfrm>
            <a:off x="7863840" y="1463040"/>
            <a:ext cx="3749040" cy="214884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0" y="1645920"/>
            <a:ext cx="3291840" cy="365760"/>
          </a:xfrm>
          <a:prstGeom prst="rect">
            <a:avLst/>
          </a:prstGeom>
          <a:noFill/>
        </p:spPr>
        <p:txBody>
          <a:bodyPr wrap="square" lIns="0" rIns="0" tIns="0" bIns="0" anchor="t">
            <a:spAutoFit/>
          </a:bodyPr>
          <a:lstStyle/>
          <a:p>
            <a:r>
              <a:rPr sz="1400" b="1" i="0">
                <a:solidFill>
                  <a:srgbClr val="0F766E"/>
                </a:solidFill>
              </a:rPr>
              <a:t>Built: the seven Do-first ideas</a:t>
            </a:r>
          </a:p>
        </p:txBody>
      </p:sp>
      <p:sp>
        <p:nvSpPr>
          <p:cNvPr id="6" name="TextBox 5"/>
          <p:cNvSpPr txBox="1"/>
          <p:nvPr/>
        </p:nvSpPr>
        <p:spPr>
          <a:xfrm>
            <a:off x="8138160" y="2057400"/>
            <a:ext cx="3291840" cy="1463040"/>
          </a:xfrm>
          <a:prstGeom prst="rect">
            <a:avLst/>
          </a:prstGeom>
          <a:noFill/>
        </p:spPr>
        <p:txBody>
          <a:bodyPr wrap="square" lIns="0" rIns="0" tIns="0" bIns="0" anchor="t">
            <a:spAutoFit/>
          </a:bodyPr>
          <a:lstStyle/>
          <a:p>
            <a:r>
              <a:rPr sz="1200" b="0" i="0">
                <a:solidFill>
                  <a:srgbClr val="1D2B30"/>
                </a:solidFill>
              </a:rPr>
              <a:t>Folded into four MVP features. The eligibility check scores highest and is the one place we refused to use AI: entitlement is law, so it is code that cites clauses.</a:t>
            </a:r>
          </a:p>
        </p:txBody>
      </p:sp>
      <p:sp>
        <p:nvSpPr>
          <p:cNvPr id="7" name="Rounded Rectangle 6"/>
          <p:cNvSpPr/>
          <p:nvPr/>
        </p:nvSpPr>
        <p:spPr>
          <a:xfrm>
            <a:off x="7863840" y="3840480"/>
            <a:ext cx="3749040" cy="237744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0" y="4023360"/>
            <a:ext cx="3291840" cy="365760"/>
          </a:xfrm>
          <a:prstGeom prst="rect">
            <a:avLst/>
          </a:prstGeom>
          <a:noFill/>
        </p:spPr>
        <p:txBody>
          <a:bodyPr wrap="square" lIns="0" rIns="0" tIns="0" bIns="0" anchor="t">
            <a:spAutoFit/>
          </a:bodyPr>
          <a:lstStyle/>
          <a:p>
            <a:r>
              <a:rPr sz="1400" b="1" i="0">
                <a:solidFill>
                  <a:srgbClr val="C2463F"/>
                </a:solidFill>
              </a:rPr>
              <a:t>Parked on purpose</a:t>
            </a:r>
          </a:p>
        </p:txBody>
      </p:sp>
      <p:sp>
        <p:nvSpPr>
          <p:cNvPr id="9" name="TextBox 8"/>
          <p:cNvSpPr txBox="1"/>
          <p:nvPr/>
        </p:nvSpPr>
        <p:spPr>
          <a:xfrm>
            <a:off x="8138160" y="4434840"/>
            <a:ext cx="3291840" cy="1691640"/>
          </a:xfrm>
          <a:prstGeom prst="rect">
            <a:avLst/>
          </a:prstGeom>
          <a:noFill/>
        </p:spPr>
        <p:txBody>
          <a:bodyPr wrap="square" lIns="0" rIns="0" tIns="0" bIns="0" anchor="t">
            <a:spAutoFit/>
          </a:bodyPr>
          <a:lstStyle/>
          <a:p>
            <a:r>
              <a:rPr sz="1200" b="0" i="0">
                <a:solidFill>
                  <a:srgbClr val="1D2B30"/>
                </a:solidFill>
              </a:rPr>
              <a:t>Auto-award, auto-send, fraud scoring and mining bank or tax data. Each is either a legal decision that needs a person, a trust risk, or not the problem we found.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Four features, one rule: AI reads, rules decide, people approve</a:t>
            </a:r>
          </a:p>
        </p:txBody>
      </p:sp>
      <p:sp>
        <p:nvSpPr>
          <p:cNvPr id="3" name="Rounded Rectangle 2"/>
          <p:cNvSpPr/>
          <p:nvPr/>
        </p:nvSpPr>
        <p:spPr>
          <a:xfrm>
            <a:off x="548640" y="1463040"/>
            <a:ext cx="2606040" cy="324612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 y="1691640"/>
            <a:ext cx="548640" cy="5486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548640" cy="548640"/>
          </a:xfrm>
          <a:prstGeom prst="rect">
            <a:avLst/>
          </a:prstGeom>
          <a:noFill/>
        </p:spPr>
        <p:txBody>
          <a:bodyPr wrap="square" lIns="0" rIns="0" tIns="0" bIns="0" anchor="ctr">
            <a:spAutoFit/>
          </a:bodyPr>
          <a:lstStyle/>
          <a:p>
            <a:pPr algn="ctr"/>
            <a:r>
              <a:rPr sz="1300" b="1" i="0">
                <a:solidFill>
                  <a:srgbClr val="FFFFFF"/>
                </a:solidFill>
              </a:rPr>
              <a:t>F1</a:t>
            </a:r>
          </a:p>
        </p:txBody>
      </p:sp>
      <p:sp>
        <p:nvSpPr>
          <p:cNvPr id="6" name="TextBox 5"/>
          <p:cNvSpPr txBox="1"/>
          <p:nvPr/>
        </p:nvSpPr>
        <p:spPr>
          <a:xfrm>
            <a:off x="777240" y="2331720"/>
            <a:ext cx="2148840" cy="411480"/>
          </a:xfrm>
          <a:prstGeom prst="rect">
            <a:avLst/>
          </a:prstGeom>
          <a:noFill/>
        </p:spPr>
        <p:txBody>
          <a:bodyPr wrap="square" lIns="0" rIns="0" tIns="0" bIns="0" anchor="t">
            <a:spAutoFit/>
          </a:bodyPr>
          <a:lstStyle/>
          <a:p>
            <a:r>
              <a:rPr sz="1500" b="1" i="0">
                <a:solidFill>
                  <a:srgbClr val="14424C"/>
                </a:solidFill>
              </a:rPr>
              <a:t>Read the event</a:t>
            </a:r>
          </a:p>
        </p:txBody>
      </p:sp>
      <p:sp>
        <p:nvSpPr>
          <p:cNvPr id="7" name="TextBox 6"/>
          <p:cNvSpPr txBox="1"/>
          <p:nvPr/>
        </p:nvSpPr>
        <p:spPr>
          <a:xfrm>
            <a:off x="777240" y="2788920"/>
            <a:ext cx="2148840" cy="1325880"/>
          </a:xfrm>
          <a:prstGeom prst="rect">
            <a:avLst/>
          </a:prstGeom>
          <a:noFill/>
        </p:spPr>
        <p:txBody>
          <a:bodyPr wrap="square" lIns="0" rIns="0" tIns="0" bIns="0" anchor="t">
            <a:spAutoFit/>
          </a:bodyPr>
          <a:lstStyle/>
          <a:p>
            <a:r>
              <a:rPr sz="1200" b="0" i="0">
                <a:solidFill>
                  <a:srgbClr val="1D2B30"/>
                </a:solidFill>
              </a:rPr>
              <a:t>Pulls 14 facts from any source and language, each with the exact words it came from; drops any fact without one.</a:t>
            </a:r>
          </a:p>
        </p:txBody>
      </p:sp>
      <p:sp>
        <p:nvSpPr>
          <p:cNvPr id="8" name="TextBox 7"/>
          <p:cNvSpPr txBox="1"/>
          <p:nvPr/>
        </p:nvSpPr>
        <p:spPr>
          <a:xfrm>
            <a:off x="777240" y="4160520"/>
            <a:ext cx="2148840" cy="411480"/>
          </a:xfrm>
          <a:prstGeom prst="rect">
            <a:avLst/>
          </a:prstGeom>
          <a:noFill/>
        </p:spPr>
        <p:txBody>
          <a:bodyPr wrap="square" lIns="0" rIns="0" tIns="0" bIns="0" anchor="t">
            <a:spAutoFit/>
          </a:bodyPr>
          <a:lstStyle/>
          <a:p>
            <a:r>
              <a:rPr sz="1100" b="0" i="1">
                <a:solidFill>
                  <a:srgbClr val="5B7C99"/>
                </a:solidFill>
              </a:rPr>
              <a:t>Groq first, Claude backup</a:t>
            </a:r>
          </a:p>
        </p:txBody>
      </p:sp>
      <p:sp>
        <p:nvSpPr>
          <p:cNvPr id="9" name="Chevron 8"/>
          <p:cNvSpPr/>
          <p:nvPr/>
        </p:nvSpPr>
        <p:spPr>
          <a:xfrm>
            <a:off x="3191256" y="2926080"/>
            <a:ext cx="137160" cy="274320"/>
          </a:xfrm>
          <a:prstGeom prst="chevron">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64992" y="1463040"/>
            <a:ext cx="2606040" cy="324612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93592" y="1691640"/>
            <a:ext cx="548640" cy="5486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1691640"/>
            <a:ext cx="548640" cy="548640"/>
          </a:xfrm>
          <a:prstGeom prst="rect">
            <a:avLst/>
          </a:prstGeom>
          <a:noFill/>
        </p:spPr>
        <p:txBody>
          <a:bodyPr wrap="square" lIns="0" rIns="0" tIns="0" bIns="0" anchor="ctr">
            <a:spAutoFit/>
          </a:bodyPr>
          <a:lstStyle/>
          <a:p>
            <a:pPr algn="ctr"/>
            <a:r>
              <a:rPr sz="1300" b="1" i="0">
                <a:solidFill>
                  <a:srgbClr val="FFFFFF"/>
                </a:solidFill>
              </a:rPr>
              <a:t>F2</a:t>
            </a:r>
          </a:p>
        </p:txBody>
      </p:sp>
      <p:sp>
        <p:nvSpPr>
          <p:cNvPr id="13" name="TextBox 12"/>
          <p:cNvSpPr txBox="1"/>
          <p:nvPr/>
        </p:nvSpPr>
        <p:spPr>
          <a:xfrm>
            <a:off x="3593592" y="2331720"/>
            <a:ext cx="2148840" cy="411480"/>
          </a:xfrm>
          <a:prstGeom prst="rect">
            <a:avLst/>
          </a:prstGeom>
          <a:noFill/>
        </p:spPr>
        <p:txBody>
          <a:bodyPr wrap="square" lIns="0" rIns="0" tIns="0" bIns="0" anchor="t">
            <a:spAutoFit/>
          </a:bodyPr>
          <a:lstStyle/>
          <a:p>
            <a:r>
              <a:rPr sz="1500" b="1" i="0">
                <a:solidFill>
                  <a:srgbClr val="14424C"/>
                </a:solidFill>
              </a:rPr>
              <a:t>Check every scheme</a:t>
            </a:r>
          </a:p>
        </p:txBody>
      </p:sp>
      <p:sp>
        <p:nvSpPr>
          <p:cNvPr id="14" name="TextBox 13"/>
          <p:cNvSpPr txBox="1"/>
          <p:nvPr/>
        </p:nvSpPr>
        <p:spPr>
          <a:xfrm>
            <a:off x="3593592" y="2788920"/>
            <a:ext cx="2148840" cy="1325880"/>
          </a:xfrm>
          <a:prstGeom prst="rect">
            <a:avLst/>
          </a:prstGeom>
          <a:noFill/>
        </p:spPr>
        <p:txBody>
          <a:bodyPr wrap="square" lIns="0" rIns="0" tIns="0" bIns="0" anchor="t">
            <a:spAutoFit/>
          </a:bodyPr>
          <a:lstStyle/>
          <a:p>
            <a:r>
              <a:rPr sz="1200" b="0" i="0">
                <a:solidFill>
                  <a:srgbClr val="1D2B30"/>
                </a:solidFill>
              </a:rPr>
              <a:t>All 12 schemes on every event. Eligible, needs info, or caseworker decides, each with the clause behind it.</a:t>
            </a:r>
          </a:p>
        </p:txBody>
      </p:sp>
      <p:sp>
        <p:nvSpPr>
          <p:cNvPr id="15" name="TextBox 14"/>
          <p:cNvSpPr txBox="1"/>
          <p:nvPr/>
        </p:nvSpPr>
        <p:spPr>
          <a:xfrm>
            <a:off x="3593592" y="4160520"/>
            <a:ext cx="2148840" cy="411480"/>
          </a:xfrm>
          <a:prstGeom prst="rect">
            <a:avLst/>
          </a:prstGeom>
          <a:noFill/>
        </p:spPr>
        <p:txBody>
          <a:bodyPr wrap="square" lIns="0" rIns="0" tIns="0" bIns="0" anchor="t">
            <a:spAutoFit/>
          </a:bodyPr>
          <a:lstStyle/>
          <a:p>
            <a:r>
              <a:rPr sz="1100" b="0" i="1">
                <a:solidFill>
                  <a:srgbClr val="5B7C99"/>
                </a:solidFill>
              </a:rPr>
              <a:t>Plain code, no AI</a:t>
            </a:r>
          </a:p>
        </p:txBody>
      </p:sp>
      <p:sp>
        <p:nvSpPr>
          <p:cNvPr id="16" name="Chevron 15"/>
          <p:cNvSpPr/>
          <p:nvPr/>
        </p:nvSpPr>
        <p:spPr>
          <a:xfrm>
            <a:off x="6007608" y="2926080"/>
            <a:ext cx="137160" cy="274320"/>
          </a:xfrm>
          <a:prstGeom prst="chevron">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1344" y="1463040"/>
            <a:ext cx="2606040" cy="324612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9944" y="1691640"/>
            <a:ext cx="548640" cy="5486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9944" y="1691640"/>
            <a:ext cx="548640" cy="548640"/>
          </a:xfrm>
          <a:prstGeom prst="rect">
            <a:avLst/>
          </a:prstGeom>
          <a:noFill/>
        </p:spPr>
        <p:txBody>
          <a:bodyPr wrap="square" lIns="0" rIns="0" tIns="0" bIns="0" anchor="ctr">
            <a:spAutoFit/>
          </a:bodyPr>
          <a:lstStyle/>
          <a:p>
            <a:pPr algn="ctr"/>
            <a:r>
              <a:rPr sz="1300" b="1" i="0">
                <a:solidFill>
                  <a:srgbClr val="FFFFFF"/>
                </a:solidFill>
              </a:rPr>
              <a:t>F3</a:t>
            </a:r>
          </a:p>
        </p:txBody>
      </p:sp>
      <p:sp>
        <p:nvSpPr>
          <p:cNvPr id="20" name="TextBox 19"/>
          <p:cNvSpPr txBox="1"/>
          <p:nvPr/>
        </p:nvSpPr>
        <p:spPr>
          <a:xfrm>
            <a:off x="6409944" y="2331720"/>
            <a:ext cx="2148840" cy="411480"/>
          </a:xfrm>
          <a:prstGeom prst="rect">
            <a:avLst/>
          </a:prstGeom>
          <a:noFill/>
        </p:spPr>
        <p:txBody>
          <a:bodyPr wrap="square" lIns="0" rIns="0" tIns="0" bIns="0" anchor="t">
            <a:spAutoFit/>
          </a:bodyPr>
          <a:lstStyle/>
          <a:p>
            <a:r>
              <a:rPr sz="1500" b="1" i="0">
                <a:solidFill>
                  <a:srgbClr val="14424C"/>
                </a:solidFill>
              </a:rPr>
              <a:t>Draft the outreach</a:t>
            </a:r>
          </a:p>
        </p:txBody>
      </p:sp>
      <p:sp>
        <p:nvSpPr>
          <p:cNvPr id="21" name="TextBox 20"/>
          <p:cNvSpPr txBox="1"/>
          <p:nvPr/>
        </p:nvSpPr>
        <p:spPr>
          <a:xfrm>
            <a:off x="6409944" y="2788920"/>
            <a:ext cx="2148840" cy="1325880"/>
          </a:xfrm>
          <a:prstGeom prst="rect">
            <a:avLst/>
          </a:prstGeom>
          <a:noFill/>
        </p:spPr>
        <p:txBody>
          <a:bodyPr wrap="square" lIns="0" rIns="0" tIns="0" bIns="0" anchor="t">
            <a:spAutoFit/>
          </a:bodyPr>
          <a:lstStyle/>
          <a:p>
            <a:r>
              <a:rPr sz="1200" b="0" i="0">
                <a:solidFill>
                  <a:srgbClr val="1D2B30"/>
                </a:solidFill>
              </a:rPr>
              <a:t>Short message in the citizen's language with only rule-approved schemes and amounts; safety-checked.</a:t>
            </a:r>
          </a:p>
        </p:txBody>
      </p:sp>
      <p:sp>
        <p:nvSpPr>
          <p:cNvPr id="22" name="TextBox 21"/>
          <p:cNvSpPr txBox="1"/>
          <p:nvPr/>
        </p:nvSpPr>
        <p:spPr>
          <a:xfrm>
            <a:off x="6409944" y="4160520"/>
            <a:ext cx="2148840" cy="411480"/>
          </a:xfrm>
          <a:prstGeom prst="rect">
            <a:avLst/>
          </a:prstGeom>
          <a:noFill/>
        </p:spPr>
        <p:txBody>
          <a:bodyPr wrap="square" lIns="0" rIns="0" tIns="0" bIns="0" anchor="t">
            <a:spAutoFit/>
          </a:bodyPr>
          <a:lstStyle/>
          <a:p>
            <a:r>
              <a:rPr sz="1100" b="0" i="1">
                <a:solidFill>
                  <a:srgbClr val="5B7C99"/>
                </a:solidFill>
              </a:rPr>
              <a:t>Groq/Claude + 4 safety checks</a:t>
            </a:r>
          </a:p>
        </p:txBody>
      </p:sp>
      <p:sp>
        <p:nvSpPr>
          <p:cNvPr id="23" name="Chevron 22"/>
          <p:cNvSpPr/>
          <p:nvPr/>
        </p:nvSpPr>
        <p:spPr>
          <a:xfrm>
            <a:off x="8823960" y="2926080"/>
            <a:ext cx="137160" cy="274320"/>
          </a:xfrm>
          <a:prstGeom prst="chevron">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997696" y="1463040"/>
            <a:ext cx="2606040" cy="324612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26296" y="1691640"/>
            <a:ext cx="548640" cy="5486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6296" y="1691640"/>
            <a:ext cx="548640" cy="548640"/>
          </a:xfrm>
          <a:prstGeom prst="rect">
            <a:avLst/>
          </a:prstGeom>
          <a:noFill/>
        </p:spPr>
        <p:txBody>
          <a:bodyPr wrap="square" lIns="0" rIns="0" tIns="0" bIns="0" anchor="ctr">
            <a:spAutoFit/>
          </a:bodyPr>
          <a:lstStyle/>
          <a:p>
            <a:pPr algn="ctr"/>
            <a:r>
              <a:rPr sz="1300" b="1" i="0">
                <a:solidFill>
                  <a:srgbClr val="FFFFFF"/>
                </a:solidFill>
              </a:rPr>
              <a:t>F4</a:t>
            </a:r>
          </a:p>
        </p:txBody>
      </p:sp>
      <p:sp>
        <p:nvSpPr>
          <p:cNvPr id="27" name="TextBox 26"/>
          <p:cNvSpPr txBox="1"/>
          <p:nvPr/>
        </p:nvSpPr>
        <p:spPr>
          <a:xfrm>
            <a:off x="9226296" y="2331720"/>
            <a:ext cx="2148840" cy="411480"/>
          </a:xfrm>
          <a:prstGeom prst="rect">
            <a:avLst/>
          </a:prstGeom>
          <a:noFill/>
        </p:spPr>
        <p:txBody>
          <a:bodyPr wrap="square" lIns="0" rIns="0" tIns="0" bIns="0" anchor="t">
            <a:spAutoFit/>
          </a:bodyPr>
          <a:lstStyle/>
          <a:p>
            <a:r>
              <a:rPr sz="1500" b="1" i="0">
                <a:solidFill>
                  <a:srgbClr val="14424C"/>
                </a:solidFill>
              </a:rPr>
              <a:t>Pre-fill and log</a:t>
            </a:r>
          </a:p>
        </p:txBody>
      </p:sp>
      <p:sp>
        <p:nvSpPr>
          <p:cNvPr id="28" name="TextBox 27"/>
          <p:cNvSpPr txBox="1"/>
          <p:nvPr/>
        </p:nvSpPr>
        <p:spPr>
          <a:xfrm>
            <a:off x="9226296" y="2788920"/>
            <a:ext cx="2148840" cy="1325880"/>
          </a:xfrm>
          <a:prstGeom prst="rect">
            <a:avLst/>
          </a:prstGeom>
          <a:noFill/>
        </p:spPr>
        <p:txBody>
          <a:bodyPr wrap="square" lIns="0" rIns="0" tIns="0" bIns="0" anchor="t">
            <a:spAutoFit/>
          </a:bodyPr>
          <a:lstStyle/>
          <a:p>
            <a:r>
              <a:rPr sz="1200" b="0" i="0">
                <a:solidFill>
                  <a:srgbClr val="1D2B30"/>
                </a:solidFill>
              </a:rPr>
              <a:t>Applications filled from the record; every approval and rejection logged with who and when.</a:t>
            </a:r>
          </a:p>
        </p:txBody>
      </p:sp>
      <p:sp>
        <p:nvSpPr>
          <p:cNvPr id="29" name="TextBox 28"/>
          <p:cNvSpPr txBox="1"/>
          <p:nvPr/>
        </p:nvSpPr>
        <p:spPr>
          <a:xfrm>
            <a:off x="9226296" y="4160520"/>
            <a:ext cx="2148840" cy="411480"/>
          </a:xfrm>
          <a:prstGeom prst="rect">
            <a:avLst/>
          </a:prstGeom>
          <a:noFill/>
        </p:spPr>
        <p:txBody>
          <a:bodyPr wrap="square" lIns="0" rIns="0" tIns="0" bIns="0" anchor="t">
            <a:spAutoFit/>
          </a:bodyPr>
          <a:lstStyle/>
          <a:p>
            <a:r>
              <a:rPr sz="1100" b="0" i="1">
                <a:solidFill>
                  <a:srgbClr val="5B7C99"/>
                </a:solidFill>
              </a:rPr>
              <a:t>Data mapping, no AI</a:t>
            </a:r>
          </a:p>
        </p:txBody>
      </p:sp>
      <p:sp>
        <p:nvSpPr>
          <p:cNvPr id="30" name="Rounded Rectangle 29"/>
          <p:cNvSpPr/>
          <p:nvPr/>
        </p:nvSpPr>
        <p:spPr>
          <a:xfrm>
            <a:off x="548640" y="4983480"/>
            <a:ext cx="11064240" cy="1188720"/>
          </a:xfrm>
          <a:prstGeom prst="roundRect">
            <a:avLst>
              <a:gd name="adj" fmla="val 8000"/>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5166360"/>
            <a:ext cx="10424160" cy="868680"/>
          </a:xfrm>
          <a:prstGeom prst="rect">
            <a:avLst/>
          </a:prstGeom>
          <a:noFill/>
        </p:spPr>
        <p:txBody>
          <a:bodyPr wrap="square" lIns="0" rIns="0" tIns="0" bIns="0" anchor="ctr">
            <a:spAutoFit/>
          </a:bodyPr>
          <a:lstStyle/>
          <a:p>
            <a:r>
              <a:rPr sz="1500" b="1">
                <a:solidFill>
                  <a:srgbClr val="E8A33D"/>
                </a:solidFill>
              </a:rPr>
              <a:t>The caseworker decides. </a:t>
            </a:r>
            <a:r>
              <a:rPr sz="1500" b="0">
                <a:solidFill>
                  <a:srgbClr val="FFFFFF"/>
                </a:solidFill>
              </a:rPr>
              <a:t>Approve, edit or reject. Edits re-run the safety checks. Nothing is awarded or sent by the AI, Disability Support and Hardship Grants always go to a person, and people who opted out get no message.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8:00 am: Priya sees who needs her first, and what they are owed</a:t>
            </a:r>
          </a:p>
        </p:txBody>
      </p:sp>
      <p:pic>
        <p:nvPicPr>
          <p:cNvPr id="3" name="Picture 2" descr="queue.png"/>
          <p:cNvPicPr>
            <a:picLocks noChangeAspect="1"/>
          </p:cNvPicPr>
          <p:nvPr/>
        </p:nvPicPr>
        <p:blipFill>
          <a:blip r:embed="rId3"/>
          <a:stretch>
            <a:fillRect/>
          </a:stretch>
        </p:blipFill>
        <p:spPr>
          <a:xfrm>
            <a:off x="548640" y="1371600"/>
            <a:ext cx="6949440" cy="4826000"/>
          </a:xfrm>
          <a:prstGeom prst="rect">
            <a:avLst/>
          </a:prstGeom>
        </p:spPr>
      </p:pic>
      <p:sp>
        <p:nvSpPr>
          <p:cNvPr id="4" name="Oval 3"/>
          <p:cNvSpPr/>
          <p:nvPr/>
        </p:nvSpPr>
        <p:spPr>
          <a:xfrm>
            <a:off x="7863840" y="1417320"/>
            <a:ext cx="411480" cy="41148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0" y="1417320"/>
            <a:ext cx="411480" cy="411480"/>
          </a:xfrm>
          <a:prstGeom prst="rect">
            <a:avLst/>
          </a:prstGeom>
          <a:noFill/>
        </p:spPr>
        <p:txBody>
          <a:bodyPr wrap="square" lIns="0" rIns="0" tIns="0" bIns="0" anchor="ctr">
            <a:spAutoFit/>
          </a:bodyPr>
          <a:lstStyle/>
          <a:p>
            <a:pPr algn="ctr"/>
            <a:r>
              <a:rPr sz="1200" b="1" i="0">
                <a:solidFill>
                  <a:srgbClr val="FFFFFF"/>
                </a:solidFill>
              </a:rPr>
              <a:t>1</a:t>
            </a:r>
          </a:p>
        </p:txBody>
      </p:sp>
      <p:sp>
        <p:nvSpPr>
          <p:cNvPr id="6" name="TextBox 5"/>
          <p:cNvSpPr txBox="1"/>
          <p:nvPr/>
        </p:nvSpPr>
        <p:spPr>
          <a:xfrm>
            <a:off x="8412480" y="1417320"/>
            <a:ext cx="3200400" cy="365760"/>
          </a:xfrm>
          <a:prstGeom prst="rect">
            <a:avLst/>
          </a:prstGeom>
          <a:noFill/>
        </p:spPr>
        <p:txBody>
          <a:bodyPr wrap="square" lIns="0" rIns="0" tIns="0" bIns="0" anchor="t">
            <a:spAutoFit/>
          </a:bodyPr>
          <a:lstStyle/>
          <a:p>
            <a:r>
              <a:rPr sz="1400" b="1" i="0">
                <a:solidFill>
                  <a:srgbClr val="14424C"/>
                </a:solidFill>
              </a:rPr>
              <a:t>Crises before value</a:t>
            </a:r>
          </a:p>
        </p:txBody>
      </p:sp>
      <p:sp>
        <p:nvSpPr>
          <p:cNvPr id="7" name="TextBox 6"/>
          <p:cNvSpPr txBox="1"/>
          <p:nvPr/>
        </p:nvSpPr>
        <p:spPr>
          <a:xfrm>
            <a:off x="8412480" y="1801368"/>
            <a:ext cx="3200400" cy="731520"/>
          </a:xfrm>
          <a:prstGeom prst="rect">
            <a:avLst/>
          </a:prstGeom>
          <a:noFill/>
        </p:spPr>
        <p:txBody>
          <a:bodyPr wrap="square" lIns="0" rIns="0" tIns="0" bIns="0" anchor="t">
            <a:spAutoFit/>
          </a:bodyPr>
          <a:lstStyle/>
          <a:p>
            <a:r>
              <a:rPr sz="1200" b="0" i="0">
                <a:solidFill>
                  <a:srgbClr val="1D2B30"/>
                </a:solidFill>
              </a:rPr>
              <a:t>An eviction note ranks Urgent; two messages it couldn't read rank Read now.</a:t>
            </a:r>
          </a:p>
        </p:txBody>
      </p:sp>
      <p:sp>
        <p:nvSpPr>
          <p:cNvPr id="8" name="Oval 7"/>
          <p:cNvSpPr/>
          <p:nvPr/>
        </p:nvSpPr>
        <p:spPr>
          <a:xfrm>
            <a:off x="7863840" y="2606040"/>
            <a:ext cx="411480" cy="41148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2606040"/>
            <a:ext cx="411480" cy="411480"/>
          </a:xfrm>
          <a:prstGeom prst="rect">
            <a:avLst/>
          </a:prstGeom>
          <a:noFill/>
        </p:spPr>
        <p:txBody>
          <a:bodyPr wrap="square" lIns="0" rIns="0" tIns="0" bIns="0" anchor="ctr">
            <a:spAutoFit/>
          </a:bodyPr>
          <a:lstStyle/>
          <a:p>
            <a:pPr algn="ctr"/>
            <a:r>
              <a:rPr sz="1200" b="1" i="0">
                <a:solidFill>
                  <a:srgbClr val="FFFFFF"/>
                </a:solidFill>
              </a:rPr>
              <a:t>2</a:t>
            </a:r>
          </a:p>
        </p:txBody>
      </p:sp>
      <p:sp>
        <p:nvSpPr>
          <p:cNvPr id="10" name="TextBox 9"/>
          <p:cNvSpPr txBox="1"/>
          <p:nvPr/>
        </p:nvSpPr>
        <p:spPr>
          <a:xfrm>
            <a:off x="8412480" y="2606040"/>
            <a:ext cx="3200400" cy="365760"/>
          </a:xfrm>
          <a:prstGeom prst="rect">
            <a:avLst/>
          </a:prstGeom>
          <a:noFill/>
        </p:spPr>
        <p:txBody>
          <a:bodyPr wrap="square" lIns="0" rIns="0" tIns="0" bIns="0" anchor="t">
            <a:spAutoFit/>
          </a:bodyPr>
          <a:lstStyle/>
          <a:p>
            <a:r>
              <a:rPr sz="1400" b="1" i="0">
                <a:solidFill>
                  <a:srgbClr val="14424C"/>
                </a:solidFill>
              </a:rPr>
              <a:t>Money on every row</a:t>
            </a:r>
          </a:p>
        </p:txBody>
      </p:sp>
      <p:sp>
        <p:nvSpPr>
          <p:cNvPr id="11" name="TextBox 10"/>
          <p:cNvSpPr txBox="1"/>
          <p:nvPr/>
        </p:nvSpPr>
        <p:spPr>
          <a:xfrm>
            <a:off x="8412480" y="2990088"/>
            <a:ext cx="3200400" cy="731520"/>
          </a:xfrm>
          <a:prstGeom prst="rect">
            <a:avLst/>
          </a:prstGeom>
          <a:noFill/>
        </p:spPr>
        <p:txBody>
          <a:bodyPr wrap="square" lIns="0" rIns="0" tIns="0" bIns="0" anchor="t">
            <a:spAutoFit/>
          </a:bodyPr>
          <a:lstStyle/>
          <a:p>
            <a:r>
              <a:rPr sz="1200" b="0" i="0">
                <a:solidFill>
                  <a:srgbClr val="1D2B30"/>
                </a:solidFill>
              </a:rPr>
              <a:t>29 households, $208,720 a year in support they are not claiming.</a:t>
            </a:r>
          </a:p>
        </p:txBody>
      </p:sp>
      <p:sp>
        <p:nvSpPr>
          <p:cNvPr id="12" name="Oval 11"/>
          <p:cNvSpPr/>
          <p:nvPr/>
        </p:nvSpPr>
        <p:spPr>
          <a:xfrm>
            <a:off x="7863840" y="3794760"/>
            <a:ext cx="411480" cy="41148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3794760"/>
            <a:ext cx="411480" cy="411480"/>
          </a:xfrm>
          <a:prstGeom prst="rect">
            <a:avLst/>
          </a:prstGeom>
          <a:noFill/>
        </p:spPr>
        <p:txBody>
          <a:bodyPr wrap="square" lIns="0" rIns="0" tIns="0" bIns="0" anchor="ctr">
            <a:spAutoFit/>
          </a:bodyPr>
          <a:lstStyle/>
          <a:p>
            <a:pPr algn="ctr"/>
            <a:r>
              <a:rPr sz="1200" b="1" i="0">
                <a:solidFill>
                  <a:srgbClr val="FFFFFF"/>
                </a:solidFill>
              </a:rPr>
              <a:t>3</a:t>
            </a:r>
          </a:p>
        </p:txBody>
      </p:sp>
      <p:sp>
        <p:nvSpPr>
          <p:cNvPr id="14" name="TextBox 13"/>
          <p:cNvSpPr txBox="1"/>
          <p:nvPr/>
        </p:nvSpPr>
        <p:spPr>
          <a:xfrm>
            <a:off x="8412480" y="3794760"/>
            <a:ext cx="3200400" cy="365760"/>
          </a:xfrm>
          <a:prstGeom prst="rect">
            <a:avLst/>
          </a:prstGeom>
          <a:noFill/>
        </p:spPr>
        <p:txBody>
          <a:bodyPr wrap="square" lIns="0" rIns="0" tIns="0" bIns="0" anchor="t">
            <a:spAutoFit/>
          </a:bodyPr>
          <a:lstStyle/>
          <a:p>
            <a:r>
              <a:rPr sz="1400" b="1" i="0">
                <a:solidFill>
                  <a:srgbClr val="14424C"/>
                </a:solidFill>
              </a:rPr>
              <a:t>Language travels</a:t>
            </a:r>
          </a:p>
        </p:txBody>
      </p:sp>
      <p:sp>
        <p:nvSpPr>
          <p:cNvPr id="15" name="TextBox 14"/>
          <p:cNvSpPr txBox="1"/>
          <p:nvPr/>
        </p:nvSpPr>
        <p:spPr>
          <a:xfrm>
            <a:off x="8412480" y="4178808"/>
            <a:ext cx="3200400" cy="731520"/>
          </a:xfrm>
          <a:prstGeom prst="rect">
            <a:avLst/>
          </a:prstGeom>
          <a:noFill/>
        </p:spPr>
        <p:txBody>
          <a:bodyPr wrap="square" lIns="0" rIns="0" tIns="0" bIns="0" anchor="t">
            <a:spAutoFit/>
          </a:bodyPr>
          <a:lstStyle/>
          <a:p>
            <a:r>
              <a:rPr sz="1200" b="0" i="0">
                <a:solidFill>
                  <a:srgbClr val="1D2B30"/>
                </a:solidFill>
              </a:rPr>
              <a:t>Mandarin, Arabic and Spanish speakers get messages in their own language.</a:t>
            </a:r>
          </a:p>
        </p:txBody>
      </p:sp>
      <p:sp>
        <p:nvSpPr>
          <p:cNvPr id="16" name="Oval 15"/>
          <p:cNvSpPr/>
          <p:nvPr/>
        </p:nvSpPr>
        <p:spPr>
          <a:xfrm>
            <a:off x="7863840" y="4983480"/>
            <a:ext cx="411480" cy="41148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983480"/>
            <a:ext cx="411480" cy="411480"/>
          </a:xfrm>
          <a:prstGeom prst="rect">
            <a:avLst/>
          </a:prstGeom>
          <a:noFill/>
        </p:spPr>
        <p:txBody>
          <a:bodyPr wrap="square" lIns="0" rIns="0" tIns="0" bIns="0" anchor="ctr">
            <a:spAutoFit/>
          </a:bodyPr>
          <a:lstStyle/>
          <a:p>
            <a:pPr algn="ctr"/>
            <a:r>
              <a:rPr sz="1200" b="1" i="0">
                <a:solidFill>
                  <a:srgbClr val="FFFFFF"/>
                </a:solidFill>
              </a:rPr>
              <a:t>4</a:t>
            </a:r>
          </a:p>
        </p:txBody>
      </p:sp>
      <p:sp>
        <p:nvSpPr>
          <p:cNvPr id="18" name="TextBox 17"/>
          <p:cNvSpPr txBox="1"/>
          <p:nvPr/>
        </p:nvSpPr>
        <p:spPr>
          <a:xfrm>
            <a:off x="8412480" y="4983480"/>
            <a:ext cx="3200400" cy="365760"/>
          </a:xfrm>
          <a:prstGeom prst="rect">
            <a:avLst/>
          </a:prstGeom>
          <a:noFill/>
        </p:spPr>
        <p:txBody>
          <a:bodyPr wrap="square" lIns="0" rIns="0" tIns="0" bIns="0" anchor="t">
            <a:spAutoFit/>
          </a:bodyPr>
          <a:lstStyle/>
          <a:p>
            <a:r>
              <a:rPr sz="1400" b="1" i="0">
                <a:solidFill>
                  <a:srgbClr val="14424C"/>
                </a:solidFill>
              </a:rPr>
              <a:t>Nothing filed as 'no action' by accident</a:t>
            </a:r>
          </a:p>
        </p:txBody>
      </p:sp>
      <p:sp>
        <p:nvSpPr>
          <p:cNvPr id="19" name="TextBox 18"/>
          <p:cNvSpPr txBox="1"/>
          <p:nvPr/>
        </p:nvSpPr>
        <p:spPr>
          <a:xfrm>
            <a:off x="8412480" y="5367528"/>
            <a:ext cx="3200400" cy="731520"/>
          </a:xfrm>
          <a:prstGeom prst="rect">
            <a:avLst/>
          </a:prstGeom>
          <a:noFill/>
        </p:spPr>
        <p:txBody>
          <a:bodyPr wrap="square" lIns="0" rIns="0" tIns="0" bIns="0" anchor="t">
            <a:spAutoFit/>
          </a:bodyPr>
          <a:lstStyle/>
          <a:p>
            <a:r>
              <a:rPr sz="1200" b="0" i="0">
                <a:solidFill>
                  <a:srgbClr val="1D2B30"/>
                </a:solidFill>
              </a:rPr>
              <a:t>Unreadable means a person reads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Grounded in evidence, gated by people</a:t>
            </a:r>
          </a:p>
        </p:txBody>
      </p:sp>
      <p:pic>
        <p:nvPicPr>
          <p:cNvPr id="3" name="Picture 2" descr="case_job.png"/>
          <p:cNvPicPr>
            <a:picLocks noChangeAspect="1"/>
          </p:cNvPicPr>
          <p:nvPr/>
        </p:nvPicPr>
        <p:blipFill>
          <a:blip r:embed="rId3"/>
          <a:stretch>
            <a:fillRect/>
          </a:stretch>
        </p:blipFill>
        <p:spPr>
          <a:xfrm>
            <a:off x="548640" y="1828800"/>
            <a:ext cx="5394960" cy="3029585"/>
          </a:xfrm>
          <a:prstGeom prst="rect">
            <a:avLst/>
          </a:prstGeom>
        </p:spPr>
      </p:pic>
      <p:pic>
        <p:nvPicPr>
          <p:cNvPr id="4" name="Picture 3" descr="case_hardship.png"/>
          <p:cNvPicPr>
            <a:picLocks noChangeAspect="1"/>
          </p:cNvPicPr>
          <p:nvPr/>
        </p:nvPicPr>
        <p:blipFill>
          <a:blip r:embed="rId4"/>
          <a:stretch>
            <a:fillRect/>
          </a:stretch>
        </p:blipFill>
        <p:spPr>
          <a:xfrm>
            <a:off x="6217920" y="1828800"/>
            <a:ext cx="5394960" cy="3029585"/>
          </a:xfrm>
          <a:prstGeom prst="rect">
            <a:avLst/>
          </a:prstGeom>
        </p:spPr>
      </p:pic>
      <p:sp>
        <p:nvSpPr>
          <p:cNvPr id="5" name="TextBox 4"/>
          <p:cNvSpPr txBox="1"/>
          <p:nvPr/>
        </p:nvSpPr>
        <p:spPr>
          <a:xfrm>
            <a:off x="548640" y="5086149"/>
            <a:ext cx="5394960" cy="822960"/>
          </a:xfrm>
          <a:prstGeom prst="rect">
            <a:avLst/>
          </a:prstGeom>
          <a:noFill/>
        </p:spPr>
        <p:txBody>
          <a:bodyPr wrap="square" lIns="0" rIns="0" tIns="0" bIns="0" anchor="t">
            <a:spAutoFit/>
          </a:bodyPr>
          <a:lstStyle/>
          <a:p>
            <a:r>
              <a:rPr sz="1200" b="1">
                <a:solidFill>
                  <a:srgbClr val="0F766E"/>
                </a:solidFill>
              </a:rPr>
              <a:t>Grounded. </a:t>
            </a:r>
            <a:r>
              <a:rPr sz="1200" b="0">
                <a:solidFill>
                  <a:srgbClr val="1D2B30"/>
                </a:solidFill>
              </a:rPr>
              <a:t>Every fact is highlighted in the source. The record said $47,000 income; the notice says $33,000, so the newer source wins and the conflict is shown. Each scheme cites its clauses.</a:t>
            </a:r>
          </a:p>
        </p:txBody>
      </p:sp>
      <p:sp>
        <p:nvSpPr>
          <p:cNvPr id="6" name="TextBox 5"/>
          <p:cNvSpPr txBox="1"/>
          <p:nvPr/>
        </p:nvSpPr>
        <p:spPr>
          <a:xfrm>
            <a:off x="6217920" y="5086149"/>
            <a:ext cx="5394960" cy="822960"/>
          </a:xfrm>
          <a:prstGeom prst="rect">
            <a:avLst/>
          </a:prstGeom>
          <a:noFill/>
        </p:spPr>
        <p:txBody>
          <a:bodyPr wrap="square" lIns="0" rIns="0" tIns="0" bIns="0" anchor="t">
            <a:spAutoFit/>
          </a:bodyPr>
          <a:lstStyle/>
          <a:p>
            <a:r>
              <a:rPr sz="1200" b="1">
                <a:solidFill>
                  <a:srgbClr val="0F766E"/>
                </a:solidFill>
              </a:rPr>
              <a:t>Human in control. </a:t>
            </a:r>
            <a:r>
              <a:rPr sz="1200" b="0">
                <a:solidFill>
                  <a:srgbClr val="1D2B30"/>
                </a:solidFill>
              </a:rPr>
              <a:t>An eviction and a power cut make this Urgent. The Hardship Grant is marked Caseworker decides, never eligible, and a missing fact becomes a question instead of a guess.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Rules where they must be, models where they help</a:t>
            </a:r>
          </a:p>
        </p:txBody>
      </p:sp>
      <p:sp>
        <p:nvSpPr>
          <p:cNvPr id="3" name="Rounded Rectangle 2"/>
          <p:cNvSpPr/>
          <p:nvPr/>
        </p:nvSpPr>
        <p:spPr>
          <a:xfrm>
            <a:off x="548640" y="1417320"/>
            <a:ext cx="6583680" cy="658368"/>
          </a:xfrm>
          <a:prstGeom prst="roundRect">
            <a:avLst>
              <a:gd name="adj" fmla="val 12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27048"/>
            <a:ext cx="1463040" cy="457200"/>
          </a:xfrm>
          <a:prstGeom prst="rect">
            <a:avLst/>
          </a:prstGeom>
          <a:noFill/>
        </p:spPr>
        <p:txBody>
          <a:bodyPr wrap="square" lIns="0" rIns="0" tIns="0" bIns="0" anchor="ctr">
            <a:spAutoFit/>
          </a:bodyPr>
          <a:lstStyle/>
          <a:p>
            <a:r>
              <a:rPr sz="1300" b="1" i="0">
                <a:solidFill>
                  <a:srgbClr val="14424C"/>
                </a:solidFill>
              </a:rPr>
              <a:t>Read</a:t>
            </a:r>
          </a:p>
        </p:txBody>
      </p:sp>
      <p:sp>
        <p:nvSpPr>
          <p:cNvPr id="5" name="TextBox 4"/>
          <p:cNvSpPr txBox="1"/>
          <p:nvPr/>
        </p:nvSpPr>
        <p:spPr>
          <a:xfrm>
            <a:off x="2240280" y="1527048"/>
            <a:ext cx="3291840" cy="457200"/>
          </a:xfrm>
          <a:prstGeom prst="rect">
            <a:avLst/>
          </a:prstGeom>
          <a:noFill/>
        </p:spPr>
        <p:txBody>
          <a:bodyPr wrap="square" lIns="0" rIns="0" tIns="0" bIns="0" anchor="ctr">
            <a:spAutoFit/>
          </a:bodyPr>
          <a:lstStyle/>
          <a:p>
            <a:r>
              <a:rPr sz="1200" b="0" i="0">
                <a:solidFill>
                  <a:srgbClr val="1D2B30"/>
                </a:solidFill>
              </a:rPr>
              <a:t>14 facts, JSON output, verbatim quotes</a:t>
            </a:r>
          </a:p>
        </p:txBody>
      </p:sp>
      <p:sp>
        <p:nvSpPr>
          <p:cNvPr id="6" name="Rounded Rectangle 5"/>
          <p:cNvSpPr/>
          <p:nvPr/>
        </p:nvSpPr>
        <p:spPr>
          <a:xfrm>
            <a:off x="5532120" y="1572768"/>
            <a:ext cx="1417320" cy="3474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32120" y="1572768"/>
            <a:ext cx="1417320" cy="347472"/>
          </a:xfrm>
          <a:prstGeom prst="rect">
            <a:avLst/>
          </a:prstGeom>
          <a:noFill/>
        </p:spPr>
        <p:txBody>
          <a:bodyPr wrap="square" lIns="0" rIns="0" tIns="0" bIns="0" anchor="ctr">
            <a:spAutoFit/>
          </a:bodyPr>
          <a:lstStyle/>
          <a:p>
            <a:pPr algn="ctr"/>
            <a:r>
              <a:rPr sz="1100" b="1" i="0">
                <a:solidFill>
                  <a:srgbClr val="FFFFFF"/>
                </a:solidFill>
              </a:rPr>
              <a:t>Groq · Claude</a:t>
            </a:r>
          </a:p>
        </p:txBody>
      </p:sp>
      <p:sp>
        <p:nvSpPr>
          <p:cNvPr id="8" name="Rounded Rectangle 7"/>
          <p:cNvSpPr/>
          <p:nvPr/>
        </p:nvSpPr>
        <p:spPr>
          <a:xfrm>
            <a:off x="548640" y="2185416"/>
            <a:ext cx="6583680" cy="658368"/>
          </a:xfrm>
          <a:prstGeom prst="roundRect">
            <a:avLst>
              <a:gd name="adj" fmla="val 12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95144"/>
            <a:ext cx="1463040" cy="457200"/>
          </a:xfrm>
          <a:prstGeom prst="rect">
            <a:avLst/>
          </a:prstGeom>
          <a:noFill/>
        </p:spPr>
        <p:txBody>
          <a:bodyPr wrap="square" lIns="0" rIns="0" tIns="0" bIns="0" anchor="ctr">
            <a:spAutoFit/>
          </a:bodyPr>
          <a:lstStyle/>
          <a:p>
            <a:r>
              <a:rPr sz="1300" b="1" i="0">
                <a:solidFill>
                  <a:srgbClr val="14424C"/>
                </a:solidFill>
              </a:rPr>
              <a:t>Verify</a:t>
            </a:r>
          </a:p>
        </p:txBody>
      </p:sp>
      <p:sp>
        <p:nvSpPr>
          <p:cNvPr id="10" name="TextBox 9"/>
          <p:cNvSpPr txBox="1"/>
          <p:nvPr/>
        </p:nvSpPr>
        <p:spPr>
          <a:xfrm>
            <a:off x="2240280" y="2295144"/>
            <a:ext cx="3291840" cy="457200"/>
          </a:xfrm>
          <a:prstGeom prst="rect">
            <a:avLst/>
          </a:prstGeom>
          <a:noFill/>
        </p:spPr>
        <p:txBody>
          <a:bodyPr wrap="square" lIns="0" rIns="0" tIns="0" bIns="0" anchor="ctr">
            <a:spAutoFit/>
          </a:bodyPr>
          <a:lstStyle/>
          <a:p>
            <a:r>
              <a:rPr sz="1200" b="0" i="0">
                <a:solidFill>
                  <a:srgbClr val="1D2B30"/>
                </a:solidFill>
              </a:rPr>
              <a:t>Drop any fact whose quote isn't in the source</a:t>
            </a:r>
          </a:p>
        </p:txBody>
      </p:sp>
      <p:sp>
        <p:nvSpPr>
          <p:cNvPr id="11" name="Rounded Rectangle 10"/>
          <p:cNvSpPr/>
          <p:nvPr/>
        </p:nvSpPr>
        <p:spPr>
          <a:xfrm>
            <a:off x="5532120" y="2340864"/>
            <a:ext cx="1417320" cy="347472"/>
          </a:xfrm>
          <a:prstGeom prst="roundRect">
            <a:avLst>
              <a:gd name="adj" fmla="val 5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32120" y="2340864"/>
            <a:ext cx="1417320" cy="347472"/>
          </a:xfrm>
          <a:prstGeom prst="rect">
            <a:avLst/>
          </a:prstGeom>
          <a:noFill/>
        </p:spPr>
        <p:txBody>
          <a:bodyPr wrap="square" lIns="0" rIns="0" tIns="0" bIns="0" anchor="ctr">
            <a:spAutoFit/>
          </a:bodyPr>
          <a:lstStyle/>
          <a:p>
            <a:pPr algn="ctr"/>
            <a:r>
              <a:rPr sz="1100" b="1" i="0">
                <a:solidFill>
                  <a:srgbClr val="0F766E"/>
                </a:solidFill>
              </a:rPr>
              <a:t>Code</a:t>
            </a:r>
          </a:p>
        </p:txBody>
      </p:sp>
      <p:sp>
        <p:nvSpPr>
          <p:cNvPr id="13" name="Rounded Rectangle 12"/>
          <p:cNvSpPr/>
          <p:nvPr/>
        </p:nvSpPr>
        <p:spPr>
          <a:xfrm>
            <a:off x="548640" y="2953512"/>
            <a:ext cx="6583680" cy="658368"/>
          </a:xfrm>
          <a:prstGeom prst="roundRect">
            <a:avLst>
              <a:gd name="adj" fmla="val 12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063240"/>
            <a:ext cx="1463040" cy="457200"/>
          </a:xfrm>
          <a:prstGeom prst="rect">
            <a:avLst/>
          </a:prstGeom>
          <a:noFill/>
        </p:spPr>
        <p:txBody>
          <a:bodyPr wrap="square" lIns="0" rIns="0" tIns="0" bIns="0" anchor="ctr">
            <a:spAutoFit/>
          </a:bodyPr>
          <a:lstStyle/>
          <a:p>
            <a:r>
              <a:rPr sz="1300" b="1" i="0">
                <a:solidFill>
                  <a:srgbClr val="14424C"/>
                </a:solidFill>
              </a:rPr>
              <a:t>Update</a:t>
            </a:r>
          </a:p>
        </p:txBody>
      </p:sp>
      <p:sp>
        <p:nvSpPr>
          <p:cNvPr id="15" name="TextBox 14"/>
          <p:cNvSpPr txBox="1"/>
          <p:nvPr/>
        </p:nvSpPr>
        <p:spPr>
          <a:xfrm>
            <a:off x="2240280" y="3063240"/>
            <a:ext cx="3291840" cy="457200"/>
          </a:xfrm>
          <a:prstGeom prst="rect">
            <a:avLst/>
          </a:prstGeom>
          <a:noFill/>
        </p:spPr>
        <p:txBody>
          <a:bodyPr wrap="square" lIns="0" rIns="0" tIns="0" bIns="0" anchor="ctr">
            <a:spAutoFit/>
          </a:bodyPr>
          <a:lstStyle/>
          <a:p>
            <a:r>
              <a:rPr sz="1200" b="0" i="0">
                <a:solidFill>
                  <a:srgbClr val="1D2B30"/>
                </a:solidFill>
              </a:rPr>
              <a:t>Newer source wins; conflicts shown</a:t>
            </a:r>
          </a:p>
        </p:txBody>
      </p:sp>
      <p:sp>
        <p:nvSpPr>
          <p:cNvPr id="16" name="Rounded Rectangle 15"/>
          <p:cNvSpPr/>
          <p:nvPr/>
        </p:nvSpPr>
        <p:spPr>
          <a:xfrm>
            <a:off x="5532120" y="3108960"/>
            <a:ext cx="1417320" cy="347472"/>
          </a:xfrm>
          <a:prstGeom prst="roundRect">
            <a:avLst>
              <a:gd name="adj" fmla="val 5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32120" y="3108960"/>
            <a:ext cx="1417320" cy="347472"/>
          </a:xfrm>
          <a:prstGeom prst="rect">
            <a:avLst/>
          </a:prstGeom>
          <a:noFill/>
        </p:spPr>
        <p:txBody>
          <a:bodyPr wrap="square" lIns="0" rIns="0" tIns="0" bIns="0" anchor="ctr">
            <a:spAutoFit/>
          </a:bodyPr>
          <a:lstStyle/>
          <a:p>
            <a:pPr algn="ctr"/>
            <a:r>
              <a:rPr sz="1100" b="1" i="0">
                <a:solidFill>
                  <a:srgbClr val="0F766E"/>
                </a:solidFill>
              </a:rPr>
              <a:t>Code</a:t>
            </a:r>
          </a:p>
        </p:txBody>
      </p:sp>
      <p:sp>
        <p:nvSpPr>
          <p:cNvPr id="18" name="Rounded Rectangle 17"/>
          <p:cNvSpPr/>
          <p:nvPr/>
        </p:nvSpPr>
        <p:spPr>
          <a:xfrm>
            <a:off x="548640" y="3721608"/>
            <a:ext cx="6583680" cy="658368"/>
          </a:xfrm>
          <a:prstGeom prst="roundRect">
            <a:avLst>
              <a:gd name="adj" fmla="val 12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831336"/>
            <a:ext cx="1463040" cy="457200"/>
          </a:xfrm>
          <a:prstGeom prst="rect">
            <a:avLst/>
          </a:prstGeom>
          <a:noFill/>
        </p:spPr>
        <p:txBody>
          <a:bodyPr wrap="square" lIns="0" rIns="0" tIns="0" bIns="0" anchor="ctr">
            <a:spAutoFit/>
          </a:bodyPr>
          <a:lstStyle/>
          <a:p>
            <a:r>
              <a:rPr sz="1300" b="1" i="0">
                <a:solidFill>
                  <a:srgbClr val="14424C"/>
                </a:solidFill>
              </a:rPr>
              <a:t>Decide</a:t>
            </a:r>
          </a:p>
        </p:txBody>
      </p:sp>
      <p:sp>
        <p:nvSpPr>
          <p:cNvPr id="20" name="TextBox 19"/>
          <p:cNvSpPr txBox="1"/>
          <p:nvPr/>
        </p:nvSpPr>
        <p:spPr>
          <a:xfrm>
            <a:off x="2240280" y="3831336"/>
            <a:ext cx="3291840" cy="457200"/>
          </a:xfrm>
          <a:prstGeom prst="rect">
            <a:avLst/>
          </a:prstGeom>
          <a:noFill/>
        </p:spPr>
        <p:txBody>
          <a:bodyPr wrap="square" lIns="0" rIns="0" tIns="0" bIns="0" anchor="ctr">
            <a:spAutoFit/>
          </a:bodyPr>
          <a:lstStyle/>
          <a:p>
            <a:r>
              <a:rPr sz="1200" b="0" i="0">
                <a:solidFill>
                  <a:srgbClr val="1D2B30"/>
                </a:solidFill>
              </a:rPr>
              <a:t>12 schemes, clause citations</a:t>
            </a:r>
          </a:p>
        </p:txBody>
      </p:sp>
      <p:sp>
        <p:nvSpPr>
          <p:cNvPr id="21" name="Rounded Rectangle 20"/>
          <p:cNvSpPr/>
          <p:nvPr/>
        </p:nvSpPr>
        <p:spPr>
          <a:xfrm>
            <a:off x="5532120" y="3877056"/>
            <a:ext cx="1417320" cy="347472"/>
          </a:xfrm>
          <a:prstGeom prst="roundRect">
            <a:avLst>
              <a:gd name="adj" fmla="val 5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32120" y="3877056"/>
            <a:ext cx="1417320" cy="347472"/>
          </a:xfrm>
          <a:prstGeom prst="rect">
            <a:avLst/>
          </a:prstGeom>
          <a:noFill/>
        </p:spPr>
        <p:txBody>
          <a:bodyPr wrap="square" lIns="0" rIns="0" tIns="0" bIns="0" anchor="ctr">
            <a:spAutoFit/>
          </a:bodyPr>
          <a:lstStyle/>
          <a:p>
            <a:pPr algn="ctr"/>
            <a:r>
              <a:rPr sz="1100" b="1" i="0">
                <a:solidFill>
                  <a:srgbClr val="0F766E"/>
                </a:solidFill>
              </a:rPr>
              <a:t>Code</a:t>
            </a:r>
          </a:p>
        </p:txBody>
      </p:sp>
      <p:sp>
        <p:nvSpPr>
          <p:cNvPr id="23" name="Rounded Rectangle 22"/>
          <p:cNvSpPr/>
          <p:nvPr/>
        </p:nvSpPr>
        <p:spPr>
          <a:xfrm>
            <a:off x="548640" y="4489704"/>
            <a:ext cx="6583680" cy="658368"/>
          </a:xfrm>
          <a:prstGeom prst="roundRect">
            <a:avLst>
              <a:gd name="adj" fmla="val 12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599432"/>
            <a:ext cx="1463040" cy="457200"/>
          </a:xfrm>
          <a:prstGeom prst="rect">
            <a:avLst/>
          </a:prstGeom>
          <a:noFill/>
        </p:spPr>
        <p:txBody>
          <a:bodyPr wrap="square" lIns="0" rIns="0" tIns="0" bIns="0" anchor="ctr">
            <a:spAutoFit/>
          </a:bodyPr>
          <a:lstStyle/>
          <a:p>
            <a:r>
              <a:rPr sz="1300" b="1" i="0">
                <a:solidFill>
                  <a:srgbClr val="14424C"/>
                </a:solidFill>
              </a:rPr>
              <a:t>Draft</a:t>
            </a:r>
          </a:p>
        </p:txBody>
      </p:sp>
      <p:sp>
        <p:nvSpPr>
          <p:cNvPr id="25" name="TextBox 24"/>
          <p:cNvSpPr txBox="1"/>
          <p:nvPr/>
        </p:nvSpPr>
        <p:spPr>
          <a:xfrm>
            <a:off x="2240280" y="4599432"/>
            <a:ext cx="3291840" cy="457200"/>
          </a:xfrm>
          <a:prstGeom prst="rect">
            <a:avLst/>
          </a:prstGeom>
          <a:noFill/>
        </p:spPr>
        <p:txBody>
          <a:bodyPr wrap="square" lIns="0" rIns="0" tIns="0" bIns="0" anchor="ctr">
            <a:spAutoFit/>
          </a:bodyPr>
          <a:lstStyle/>
          <a:p>
            <a:r>
              <a:rPr sz="1200" b="0" i="0">
                <a:solidFill>
                  <a:srgbClr val="1D2B30"/>
                </a:solidFill>
              </a:rPr>
              <a:t>Citizen's language, rule amounts only</a:t>
            </a:r>
          </a:p>
        </p:txBody>
      </p:sp>
      <p:sp>
        <p:nvSpPr>
          <p:cNvPr id="26" name="Rounded Rectangle 25"/>
          <p:cNvSpPr/>
          <p:nvPr/>
        </p:nvSpPr>
        <p:spPr>
          <a:xfrm>
            <a:off x="5532120" y="4645152"/>
            <a:ext cx="1417320" cy="347472"/>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32120" y="4645152"/>
            <a:ext cx="1417320" cy="347472"/>
          </a:xfrm>
          <a:prstGeom prst="rect">
            <a:avLst/>
          </a:prstGeom>
          <a:noFill/>
        </p:spPr>
        <p:txBody>
          <a:bodyPr wrap="square" lIns="0" rIns="0" tIns="0" bIns="0" anchor="ctr">
            <a:spAutoFit/>
          </a:bodyPr>
          <a:lstStyle/>
          <a:p>
            <a:pPr algn="ctr"/>
            <a:r>
              <a:rPr sz="1100" b="1" i="0">
                <a:solidFill>
                  <a:srgbClr val="FFFFFF"/>
                </a:solidFill>
              </a:rPr>
              <a:t>Groq · Claude</a:t>
            </a:r>
          </a:p>
        </p:txBody>
      </p:sp>
      <p:sp>
        <p:nvSpPr>
          <p:cNvPr id="28" name="Rounded Rectangle 27"/>
          <p:cNvSpPr/>
          <p:nvPr/>
        </p:nvSpPr>
        <p:spPr>
          <a:xfrm>
            <a:off x="548640" y="5257800"/>
            <a:ext cx="6583680" cy="658368"/>
          </a:xfrm>
          <a:prstGeom prst="roundRect">
            <a:avLst>
              <a:gd name="adj" fmla="val 12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367528"/>
            <a:ext cx="1463040" cy="457200"/>
          </a:xfrm>
          <a:prstGeom prst="rect">
            <a:avLst/>
          </a:prstGeom>
          <a:noFill/>
        </p:spPr>
        <p:txBody>
          <a:bodyPr wrap="square" lIns="0" rIns="0" tIns="0" bIns="0" anchor="ctr">
            <a:spAutoFit/>
          </a:bodyPr>
          <a:lstStyle/>
          <a:p>
            <a:r>
              <a:rPr sz="1300" b="1" i="0">
                <a:solidFill>
                  <a:srgbClr val="14424C"/>
                </a:solidFill>
              </a:rPr>
              <a:t>Check</a:t>
            </a:r>
          </a:p>
        </p:txBody>
      </p:sp>
      <p:sp>
        <p:nvSpPr>
          <p:cNvPr id="30" name="TextBox 29"/>
          <p:cNvSpPr txBox="1"/>
          <p:nvPr/>
        </p:nvSpPr>
        <p:spPr>
          <a:xfrm>
            <a:off x="2240280" y="5367528"/>
            <a:ext cx="3291840" cy="457200"/>
          </a:xfrm>
          <a:prstGeom prst="rect">
            <a:avLst/>
          </a:prstGeom>
          <a:noFill/>
        </p:spPr>
        <p:txBody>
          <a:bodyPr wrap="square" lIns="0" rIns="0" tIns="0" bIns="0" anchor="ctr">
            <a:spAutoFit/>
          </a:bodyPr>
          <a:lstStyle/>
          <a:p>
            <a:r>
              <a:rPr sz="1200" b="0" i="0">
                <a:solidFill>
                  <a:srgbClr val="1D2B30"/>
                </a:solidFill>
              </a:rPr>
              <a:t>4 safety checks, re-run on every edit</a:t>
            </a:r>
          </a:p>
        </p:txBody>
      </p:sp>
      <p:sp>
        <p:nvSpPr>
          <p:cNvPr id="31" name="Rounded Rectangle 30"/>
          <p:cNvSpPr/>
          <p:nvPr/>
        </p:nvSpPr>
        <p:spPr>
          <a:xfrm>
            <a:off x="5532120" y="5413248"/>
            <a:ext cx="1417320" cy="347472"/>
          </a:xfrm>
          <a:prstGeom prst="roundRect">
            <a:avLst>
              <a:gd name="adj" fmla="val 5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32120" y="5413248"/>
            <a:ext cx="1417320" cy="347472"/>
          </a:xfrm>
          <a:prstGeom prst="rect">
            <a:avLst/>
          </a:prstGeom>
          <a:noFill/>
        </p:spPr>
        <p:txBody>
          <a:bodyPr wrap="square" lIns="0" rIns="0" tIns="0" bIns="0" anchor="ctr">
            <a:spAutoFit/>
          </a:bodyPr>
          <a:lstStyle/>
          <a:p>
            <a:pPr algn="ctr"/>
            <a:r>
              <a:rPr sz="1100" b="1" i="0">
                <a:solidFill>
                  <a:srgbClr val="0F766E"/>
                </a:solidFill>
              </a:rPr>
              <a:t>Code</a:t>
            </a:r>
          </a:p>
        </p:txBody>
      </p:sp>
      <p:sp>
        <p:nvSpPr>
          <p:cNvPr id="33" name="Rounded Rectangle 32"/>
          <p:cNvSpPr/>
          <p:nvPr/>
        </p:nvSpPr>
        <p:spPr>
          <a:xfrm>
            <a:off x="7498080" y="1417320"/>
            <a:ext cx="4114800" cy="2194560"/>
          </a:xfrm>
          <a:prstGeom prst="roundRect">
            <a:avLst>
              <a:gd name="adj" fmla="val 5000"/>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0" y="1600200"/>
            <a:ext cx="3566160" cy="502920"/>
          </a:xfrm>
          <a:prstGeom prst="rect">
            <a:avLst/>
          </a:prstGeom>
          <a:noFill/>
        </p:spPr>
        <p:txBody>
          <a:bodyPr wrap="square" lIns="0" rIns="0" tIns="0" bIns="0" anchor="t">
            <a:spAutoFit/>
          </a:bodyPr>
          <a:lstStyle/>
          <a:p>
            <a:r>
              <a:rPr sz="2000" b="1" i="0">
                <a:solidFill>
                  <a:srgbClr val="E8A33D"/>
                </a:solidFill>
                <a:latin typeface="Cambria"/>
              </a:rPr>
              <a:t>Under 1 cent a case</a:t>
            </a:r>
          </a:p>
        </p:txBody>
      </p:sp>
      <p:sp>
        <p:nvSpPr>
          <p:cNvPr id="35" name="TextBox 34"/>
          <p:cNvSpPr txBox="1"/>
          <p:nvPr/>
        </p:nvSpPr>
        <p:spPr>
          <a:xfrm>
            <a:off x="7772400" y="2148840"/>
            <a:ext cx="3566160" cy="1371600"/>
          </a:xfrm>
          <a:prstGeom prst="rect">
            <a:avLst/>
          </a:prstGeom>
          <a:noFill/>
        </p:spPr>
        <p:txBody>
          <a:bodyPr wrap="square" lIns="0" rIns="0" tIns="0" bIns="0" anchor="t">
            <a:spAutoFit/>
          </a:bodyPr>
          <a:lstStyle/>
          <a:p>
            <a:r>
              <a:rPr sz="1200" b="0" i="0">
                <a:solidFill>
                  <a:srgbClr val="FFFFFF"/>
                </a:solidFill>
              </a:rPr>
              <a:t>About $132 a month for 22,500 life events: Groq gpt-oss-120b on every event ($21), Claude Opus 5.5 as backup on a budgeted 10% ($66), plus $45 of hosting and database. Claude-only would be about $707.</a:t>
            </a:r>
          </a:p>
        </p:txBody>
      </p:sp>
      <p:sp>
        <p:nvSpPr>
          <p:cNvPr id="36" name="Rounded Rectangle 35"/>
          <p:cNvSpPr/>
          <p:nvPr/>
        </p:nvSpPr>
        <p:spPr>
          <a:xfrm>
            <a:off x="7498080" y="3794760"/>
            <a:ext cx="4114800" cy="237744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0" y="3977640"/>
            <a:ext cx="3566160" cy="365760"/>
          </a:xfrm>
          <a:prstGeom prst="rect">
            <a:avLst/>
          </a:prstGeom>
          <a:noFill/>
        </p:spPr>
        <p:txBody>
          <a:bodyPr wrap="square" lIns="0" rIns="0" tIns="0" bIns="0" anchor="t">
            <a:spAutoFit/>
          </a:bodyPr>
          <a:lstStyle/>
          <a:p>
            <a:r>
              <a:rPr sz="1400" b="1" i="0">
                <a:solidFill>
                  <a:srgbClr val="14424C"/>
                </a:solidFill>
              </a:rPr>
              <a:t>Prototype stack</a:t>
            </a:r>
          </a:p>
        </p:txBody>
      </p:sp>
      <p:sp>
        <p:nvSpPr>
          <p:cNvPr id="38" name="TextBox 37"/>
          <p:cNvSpPr txBox="1"/>
          <p:nvPr/>
        </p:nvSpPr>
        <p:spPr>
          <a:xfrm>
            <a:off x="7772400" y="4389120"/>
            <a:ext cx="3566160" cy="1645920"/>
          </a:xfrm>
          <a:prstGeom prst="rect">
            <a:avLst/>
          </a:prstGeom>
          <a:noFill/>
        </p:spPr>
        <p:txBody>
          <a:bodyPr wrap="square" lIns="0" rIns="0" tIns="0" bIns="0" anchor="t">
            <a:spAutoFit/>
          </a:bodyPr>
          <a:lstStyle/>
          <a:p>
            <a:pPr>
              <a:spcAft>
                <a:spcPts val="600"/>
              </a:spcAft>
            </a:pPr>
            <a:r>
              <a:rPr sz="1200" b="0" i="0">
                <a:solidFill>
                  <a:srgbClr val="1D2B30"/>
                </a:solidFill>
              </a:rPr>
              <a:t>•  Next.js on Vercel's free tier, no paid database</a:t>
            </a:r>
          </a:p>
          <a:p>
            <a:pPr>
              <a:spcAft>
                <a:spcPts val="600"/>
              </a:spcAft>
            </a:pPr>
            <a:r>
              <a:rPr sz="1200" b="0" i="0">
                <a:solidFill>
                  <a:srgbClr val="1D2B30"/>
                </a:solidFill>
              </a:rPr>
              <a:t>•  Groq first, Claude if a Groq call fails; rules-only Offline mode with no key</a:t>
            </a:r>
          </a:p>
          <a:p>
            <a:pPr>
              <a:spcAft>
                <a:spcPts val="600"/>
              </a:spcAft>
            </a:pPr>
            <a:r>
              <a:rPr sz="1200" b="0" i="0">
                <a:solidFill>
                  <a:srgbClr val="1D2B30"/>
                </a:solidFill>
              </a:rPr>
              <a:t>•  No vector store: the rulebook is about 2,000 tokens and lives in code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North Star: enrolled within 30 days, from 21% to 60%</a:t>
            </a:r>
          </a:p>
        </p:txBody>
      </p:sp>
      <p:graphicFrame>
        <p:nvGraphicFramePr>
          <p:cNvPr id="3" name="Chart 2"/>
          <p:cNvGraphicFramePr>
            <a:graphicFrameLocks noGrp="1"/>
          </p:cNvGraphicFramePr>
          <p:nvPr/>
        </p:nvGraphicFramePr>
        <p:xfrm>
          <a:off x="548640" y="1371600"/>
          <a:ext cx="5852160" cy="4754880"/>
        </p:xfrm>
        <a:graphic>
          <a:graphicData uri="http://schemas.openxmlformats.org/drawingml/2006/chart">
            <c:chart xmlns:c="http://schemas.openxmlformats.org/drawingml/2006/chart" r:id="rId3"/>
          </a:graphicData>
        </a:graphic>
      </p:graphicFrame>
      <p:sp>
        <p:nvSpPr>
          <p:cNvPr id="4" name="TextBox 3"/>
          <p:cNvSpPr txBox="1"/>
          <p:nvPr/>
        </p:nvSpPr>
        <p:spPr>
          <a:xfrm>
            <a:off x="6766560" y="1417320"/>
            <a:ext cx="4846320" cy="365760"/>
          </a:xfrm>
          <a:prstGeom prst="rect">
            <a:avLst/>
          </a:prstGeom>
          <a:noFill/>
        </p:spPr>
        <p:txBody>
          <a:bodyPr wrap="square" lIns="0" rIns="0" tIns="0" bIns="0" anchor="t">
            <a:spAutoFit/>
          </a:bodyPr>
          <a:lstStyle/>
          <a:p>
            <a:r>
              <a:rPr sz="1400" b="1" i="0">
                <a:solidFill>
                  <a:srgbClr val="14424C"/>
                </a:solidFill>
              </a:rPr>
              <a:t>Supporting metrics: today and target</a:t>
            </a:r>
          </a:p>
        </p:txBody>
      </p:sp>
      <p:sp>
        <p:nvSpPr>
          <p:cNvPr id="5" name="Rounded Rectangle 4"/>
          <p:cNvSpPr/>
          <p:nvPr/>
        </p:nvSpPr>
        <p:spPr>
          <a:xfrm>
            <a:off x="6766560" y="1874520"/>
            <a:ext cx="4846320" cy="621792"/>
          </a:xfrm>
          <a:prstGeom prst="roundRect">
            <a:avLst>
              <a:gd name="adj" fmla="val 10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0" y="1947672"/>
            <a:ext cx="1920240" cy="475488"/>
          </a:xfrm>
          <a:prstGeom prst="rect">
            <a:avLst/>
          </a:prstGeom>
          <a:noFill/>
        </p:spPr>
        <p:txBody>
          <a:bodyPr wrap="square" lIns="0" rIns="0" tIns="0" bIns="0" anchor="ctr">
            <a:spAutoFit/>
          </a:bodyPr>
          <a:lstStyle/>
          <a:p>
            <a:r>
              <a:rPr sz="1200" b="1" i="0">
                <a:solidFill>
                  <a:srgbClr val="14424C"/>
                </a:solidFill>
              </a:rPr>
              <a:t>Time to support</a:t>
            </a:r>
          </a:p>
        </p:txBody>
      </p:sp>
      <p:sp>
        <p:nvSpPr>
          <p:cNvPr id="7" name="TextBox 6"/>
          <p:cNvSpPr txBox="1"/>
          <p:nvPr/>
        </p:nvSpPr>
        <p:spPr>
          <a:xfrm>
            <a:off x="8869680" y="1947672"/>
            <a:ext cx="2651760" cy="475488"/>
          </a:xfrm>
          <a:prstGeom prst="rect">
            <a:avLst/>
          </a:prstGeom>
          <a:noFill/>
        </p:spPr>
        <p:txBody>
          <a:bodyPr wrap="square" lIns="0" rIns="0" tIns="0" bIns="0" anchor="ctr">
            <a:spAutoFit/>
          </a:bodyPr>
          <a:lstStyle/>
          <a:p>
            <a:r>
              <a:rPr sz="1100" b="0" i="0">
                <a:solidFill>
                  <a:srgbClr val="0F766E"/>
                </a:solidFill>
              </a:rPr>
              <a:t>65-day median to first claim → under 14 days</a:t>
            </a:r>
          </a:p>
        </p:txBody>
      </p:sp>
      <p:sp>
        <p:nvSpPr>
          <p:cNvPr id="8" name="Rounded Rectangle 7"/>
          <p:cNvSpPr/>
          <p:nvPr/>
        </p:nvSpPr>
        <p:spPr>
          <a:xfrm>
            <a:off x="6766560" y="2587752"/>
            <a:ext cx="4846320" cy="621792"/>
          </a:xfrm>
          <a:prstGeom prst="roundRect">
            <a:avLst>
              <a:gd name="adj" fmla="val 10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2660904"/>
            <a:ext cx="1920240" cy="475488"/>
          </a:xfrm>
          <a:prstGeom prst="rect">
            <a:avLst/>
          </a:prstGeom>
          <a:noFill/>
        </p:spPr>
        <p:txBody>
          <a:bodyPr wrap="square" lIns="0" rIns="0" tIns="0" bIns="0" anchor="ctr">
            <a:spAutoFit/>
          </a:bodyPr>
          <a:lstStyle/>
          <a:p>
            <a:r>
              <a:rPr sz="1200" b="1" i="0">
                <a:solidFill>
                  <a:srgbClr val="14424C"/>
                </a:solidFill>
              </a:rPr>
              <a:t>Caseworker time</a:t>
            </a:r>
          </a:p>
        </p:txBody>
      </p:sp>
      <p:sp>
        <p:nvSpPr>
          <p:cNvPr id="10" name="TextBox 9"/>
          <p:cNvSpPr txBox="1"/>
          <p:nvPr/>
        </p:nvSpPr>
        <p:spPr>
          <a:xfrm>
            <a:off x="8869680" y="2660904"/>
            <a:ext cx="2651760" cy="475488"/>
          </a:xfrm>
          <a:prstGeom prst="rect">
            <a:avLst/>
          </a:prstGeom>
          <a:noFill/>
        </p:spPr>
        <p:txBody>
          <a:bodyPr wrap="square" lIns="0" rIns="0" tIns="0" bIns="0" anchor="ctr">
            <a:spAutoFit/>
          </a:bodyPr>
          <a:lstStyle/>
          <a:p>
            <a:r>
              <a:rPr sz="1100" b="0" i="0">
                <a:solidFill>
                  <a:srgbClr val="0F766E"/>
                </a:solidFill>
              </a:rPr>
              <a:t>45 minutes per review → 10</a:t>
            </a:r>
          </a:p>
        </p:txBody>
      </p:sp>
      <p:sp>
        <p:nvSpPr>
          <p:cNvPr id="11" name="Rounded Rectangle 10"/>
          <p:cNvSpPr/>
          <p:nvPr/>
        </p:nvSpPr>
        <p:spPr>
          <a:xfrm>
            <a:off x="6766560" y="3300984"/>
            <a:ext cx="4846320" cy="621792"/>
          </a:xfrm>
          <a:prstGeom prst="roundRect">
            <a:avLst>
              <a:gd name="adj" fmla="val 10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3374136"/>
            <a:ext cx="1920240" cy="475488"/>
          </a:xfrm>
          <a:prstGeom prst="rect">
            <a:avLst/>
          </a:prstGeom>
          <a:noFill/>
        </p:spPr>
        <p:txBody>
          <a:bodyPr wrap="square" lIns="0" rIns="0" tIns="0" bIns="0" anchor="ctr">
            <a:spAutoFit/>
          </a:bodyPr>
          <a:lstStyle/>
          <a:p>
            <a:r>
              <a:rPr sz="1200" b="1" i="0">
                <a:solidFill>
                  <a:srgbClr val="14424C"/>
                </a:solidFill>
              </a:rPr>
              <a:t>Trust</a:t>
            </a:r>
          </a:p>
        </p:txBody>
      </p:sp>
      <p:sp>
        <p:nvSpPr>
          <p:cNvPr id="13" name="TextBox 12"/>
          <p:cNvSpPr txBox="1"/>
          <p:nvPr/>
        </p:nvSpPr>
        <p:spPr>
          <a:xfrm>
            <a:off x="8869680" y="3374136"/>
            <a:ext cx="2651760" cy="475488"/>
          </a:xfrm>
          <a:prstGeom prst="rect">
            <a:avLst/>
          </a:prstGeom>
          <a:noFill/>
        </p:spPr>
        <p:txBody>
          <a:bodyPr wrap="square" lIns="0" rIns="0" tIns="0" bIns="0" anchor="ctr">
            <a:spAutoFit/>
          </a:bodyPr>
          <a:lstStyle/>
          <a:p>
            <a:r>
              <a:rPr sz="1100" b="0" i="0">
                <a:solidFill>
                  <a:srgbClr val="0F766E"/>
                </a:solidFill>
              </a:rPr>
              <a:t>85%+ of suggestions approved without major edits</a:t>
            </a:r>
          </a:p>
        </p:txBody>
      </p:sp>
      <p:sp>
        <p:nvSpPr>
          <p:cNvPr id="14" name="Rounded Rectangle 13"/>
          <p:cNvSpPr/>
          <p:nvPr/>
        </p:nvSpPr>
        <p:spPr>
          <a:xfrm>
            <a:off x="6766560" y="4014216"/>
            <a:ext cx="4846320" cy="621792"/>
          </a:xfrm>
          <a:prstGeom prst="roundRect">
            <a:avLst>
              <a:gd name="adj" fmla="val 10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0" y="4087368"/>
            <a:ext cx="1920240" cy="475488"/>
          </a:xfrm>
          <a:prstGeom prst="rect">
            <a:avLst/>
          </a:prstGeom>
          <a:noFill/>
        </p:spPr>
        <p:txBody>
          <a:bodyPr wrap="square" lIns="0" rIns="0" tIns="0" bIns="0" anchor="ctr">
            <a:spAutoFit/>
          </a:bodyPr>
          <a:lstStyle/>
          <a:p>
            <a:r>
              <a:rPr sz="1200" b="1" i="0">
                <a:solidFill>
                  <a:srgbClr val="14424C"/>
                </a:solidFill>
              </a:rPr>
              <a:t>Quality</a:t>
            </a:r>
          </a:p>
        </p:txBody>
      </p:sp>
      <p:sp>
        <p:nvSpPr>
          <p:cNvPr id="16" name="TextBox 15"/>
          <p:cNvSpPr txBox="1"/>
          <p:nvPr/>
        </p:nvSpPr>
        <p:spPr>
          <a:xfrm>
            <a:off x="8869680" y="4087368"/>
            <a:ext cx="2651760" cy="475488"/>
          </a:xfrm>
          <a:prstGeom prst="rect">
            <a:avLst/>
          </a:prstGeom>
          <a:noFill/>
        </p:spPr>
        <p:txBody>
          <a:bodyPr wrap="square" lIns="0" rIns="0" tIns="0" bIns="0" anchor="ctr">
            <a:spAutoFit/>
          </a:bodyPr>
          <a:lstStyle/>
          <a:p>
            <a:r>
              <a:rPr sz="1100" b="0" i="0">
                <a:solidFill>
                  <a:srgbClr val="0F766E"/>
                </a:solidFill>
              </a:rPr>
              <a:t>Entitlement precision 95%+, recall 90%+</a:t>
            </a:r>
          </a:p>
        </p:txBody>
      </p:sp>
      <p:sp>
        <p:nvSpPr>
          <p:cNvPr id="17" name="Rounded Rectangle 16"/>
          <p:cNvSpPr/>
          <p:nvPr/>
        </p:nvSpPr>
        <p:spPr>
          <a:xfrm>
            <a:off x="6766560" y="4727448"/>
            <a:ext cx="4846320" cy="621792"/>
          </a:xfrm>
          <a:prstGeom prst="roundRect">
            <a:avLst>
              <a:gd name="adj" fmla="val 10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4800600"/>
            <a:ext cx="1920240" cy="475488"/>
          </a:xfrm>
          <a:prstGeom prst="rect">
            <a:avLst/>
          </a:prstGeom>
          <a:noFill/>
        </p:spPr>
        <p:txBody>
          <a:bodyPr wrap="square" lIns="0" rIns="0" tIns="0" bIns="0" anchor="ctr">
            <a:spAutoFit/>
          </a:bodyPr>
          <a:lstStyle/>
          <a:p>
            <a:r>
              <a:rPr sz="1200" b="1" i="0">
                <a:solidFill>
                  <a:srgbClr val="14424C"/>
                </a:solidFill>
              </a:rPr>
              <a:t>Fairness</a:t>
            </a:r>
          </a:p>
        </p:txBody>
      </p:sp>
      <p:sp>
        <p:nvSpPr>
          <p:cNvPr id="19" name="TextBox 18"/>
          <p:cNvSpPr txBox="1"/>
          <p:nvPr/>
        </p:nvSpPr>
        <p:spPr>
          <a:xfrm>
            <a:off x="8869680" y="4800600"/>
            <a:ext cx="2651760" cy="475488"/>
          </a:xfrm>
          <a:prstGeom prst="rect">
            <a:avLst/>
          </a:prstGeom>
          <a:noFill/>
        </p:spPr>
        <p:txBody>
          <a:bodyPr wrap="square" lIns="0" rIns="0" tIns="0" bIns="0" anchor="ctr">
            <a:spAutoFit/>
          </a:bodyPr>
          <a:lstStyle/>
          <a:p>
            <a:r>
              <a:rPr sz="1100" b="0" i="0">
                <a:solidFill>
                  <a:srgbClr val="0F766E"/>
                </a:solidFill>
              </a:rPr>
              <a:t>No language or region more than 10 points below average</a:t>
            </a:r>
          </a:p>
        </p:txBody>
      </p:sp>
      <p:sp>
        <p:nvSpPr>
          <p:cNvPr id="20" name="Rounded Rectangle 19"/>
          <p:cNvSpPr/>
          <p:nvPr/>
        </p:nvSpPr>
        <p:spPr>
          <a:xfrm>
            <a:off x="6766560" y="5440680"/>
            <a:ext cx="4846320" cy="621792"/>
          </a:xfrm>
          <a:prstGeom prst="roundRect">
            <a:avLst>
              <a:gd name="adj" fmla="val 10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0" y="5513832"/>
            <a:ext cx="1920240" cy="475488"/>
          </a:xfrm>
          <a:prstGeom prst="rect">
            <a:avLst/>
          </a:prstGeom>
          <a:noFill/>
        </p:spPr>
        <p:txBody>
          <a:bodyPr wrap="square" lIns="0" rIns="0" tIns="0" bIns="0" anchor="ctr">
            <a:spAutoFit/>
          </a:bodyPr>
          <a:lstStyle/>
          <a:p>
            <a:r>
              <a:rPr sz="1200" b="1" i="0">
                <a:solidFill>
                  <a:srgbClr val="14424C"/>
                </a:solidFill>
              </a:rPr>
              <a:t>Guardrails</a:t>
            </a:r>
          </a:p>
        </p:txBody>
      </p:sp>
      <p:sp>
        <p:nvSpPr>
          <p:cNvPr id="22" name="TextBox 21"/>
          <p:cNvSpPr txBox="1"/>
          <p:nvPr/>
        </p:nvSpPr>
        <p:spPr>
          <a:xfrm>
            <a:off x="8869680" y="5513832"/>
            <a:ext cx="2651760" cy="475488"/>
          </a:xfrm>
          <a:prstGeom prst="rect">
            <a:avLst/>
          </a:prstGeom>
          <a:noFill/>
        </p:spPr>
        <p:txBody>
          <a:bodyPr wrap="square" lIns="0" rIns="0" tIns="0" bIns="0" anchor="ctr">
            <a:spAutoFit/>
          </a:bodyPr>
          <a:lstStyle/>
          <a:p>
            <a:r>
              <a:rPr sz="1100" b="0" i="0">
                <a:solidFill>
                  <a:srgbClr val="C2463F"/>
                </a:solidFill>
              </a:rPr>
              <a:t>0 unapproved messages, 0 unquoted facts, 0 contacts after opt-out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North Star leads; outcomes for families follow</a:t>
            </a:r>
          </a:p>
        </p:txBody>
      </p:sp>
      <p:sp>
        <p:nvSpPr>
          <p:cNvPr id="3" name="Rounded Rectangle 2"/>
          <p:cNvSpPr/>
          <p:nvPr/>
        </p:nvSpPr>
        <p:spPr>
          <a:xfrm>
            <a:off x="548640" y="1417320"/>
            <a:ext cx="3291840" cy="4206240"/>
          </a:xfrm>
          <a:prstGeom prst="roundRect">
            <a:avLst>
              <a:gd name="adj" fmla="val 4000"/>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2743200" cy="365760"/>
          </a:xfrm>
          <a:prstGeom prst="rect">
            <a:avLst/>
          </a:prstGeom>
          <a:noFill/>
        </p:spPr>
        <p:txBody>
          <a:bodyPr wrap="square" lIns="0" rIns="0" tIns="0" bIns="0" anchor="t">
            <a:spAutoFit/>
          </a:bodyPr>
          <a:lstStyle/>
          <a:p>
            <a:r>
              <a:rPr sz="1100" b="1" i="0">
                <a:solidFill>
                  <a:srgbClr val="E8A33D"/>
                </a:solidFill>
              </a:rPr>
              <a:t>Leading: the product controls it</a:t>
            </a:r>
          </a:p>
        </p:txBody>
      </p:sp>
      <p:sp>
        <p:nvSpPr>
          <p:cNvPr id="5" name="TextBox 4"/>
          <p:cNvSpPr txBox="1"/>
          <p:nvPr/>
        </p:nvSpPr>
        <p:spPr>
          <a:xfrm>
            <a:off x="822960" y="2057400"/>
            <a:ext cx="2743200" cy="822960"/>
          </a:xfrm>
          <a:prstGeom prst="rect">
            <a:avLst/>
          </a:prstGeom>
          <a:noFill/>
        </p:spPr>
        <p:txBody>
          <a:bodyPr wrap="square" lIns="0" rIns="0" tIns="0" bIns="0" anchor="t">
            <a:spAutoFit/>
          </a:bodyPr>
          <a:lstStyle/>
          <a:p>
            <a:r>
              <a:rPr sz="2000" b="1" i="0">
                <a:solidFill>
                  <a:srgbClr val="FFFFFF"/>
                </a:solidFill>
                <a:latin typeface="Cambria"/>
              </a:rPr>
              <a:t>Enrolled within 30 days</a:t>
            </a:r>
          </a:p>
        </p:txBody>
      </p:sp>
      <p:sp>
        <p:nvSpPr>
          <p:cNvPr id="6" name="TextBox 5"/>
          <p:cNvSpPr txBox="1"/>
          <p:nvPr/>
        </p:nvSpPr>
        <p:spPr>
          <a:xfrm>
            <a:off x="822960" y="2971800"/>
            <a:ext cx="2743200" cy="2514600"/>
          </a:xfrm>
          <a:prstGeom prst="rect">
            <a:avLst/>
          </a:prstGeom>
          <a:noFill/>
        </p:spPr>
        <p:txBody>
          <a:bodyPr wrap="square" lIns="0" rIns="0" tIns="0" bIns="0" anchor="t">
            <a:spAutoFit/>
          </a:bodyPr>
          <a:lstStyle/>
          <a:p>
            <a:r>
              <a:rPr sz="1200" b="0" i="0">
                <a:solidFill>
                  <a:srgbClr val="FFFFFF"/>
                </a:solidFill>
              </a:rPr>
              <a:t>Moves weekly. Measures the exact failure we found: support arriving late or never.</a:t>
            </a:r>
          </a:p>
          <a:p>
            <a:r>
              <a:rPr sz="1200" b="0" i="0">
                <a:solidFill>
                  <a:srgbClr val="FFFFFF"/>
                </a:solidFill>
              </a:rPr>
              <a:t/>
            </a:r>
          </a:p>
          <a:p>
            <a:r>
              <a:rPr sz="1200" b="0" i="0">
                <a:solidFill>
                  <a:srgbClr val="FFFFFF"/>
                </a:solidFill>
              </a:rPr>
              <a:t>21% today, 45% in the pilot, 60% at full rollout.</a:t>
            </a:r>
          </a:p>
          <a:p>
            <a:r>
              <a:rPr sz="1200" b="0" i="0">
                <a:solidFill>
                  <a:srgbClr val="FFFFFF"/>
                </a:solidFill>
              </a:rPr>
              <a:t/>
            </a:r>
          </a:p>
          <a:p>
            <a:r>
              <a:rPr sz="1200" b="0" i="0">
                <a:solidFill>
                  <a:srgbClr val="FFFFFF"/>
                </a:solidFill>
              </a:rPr>
              <a:t>Can't be gamed by sending more messages: it counts enrolments, not outreach.</a:t>
            </a:r>
          </a:p>
        </p:txBody>
      </p:sp>
      <p:sp>
        <p:nvSpPr>
          <p:cNvPr id="7" name="Chevron 6"/>
          <p:cNvSpPr/>
          <p:nvPr/>
        </p:nvSpPr>
        <p:spPr>
          <a:xfrm>
            <a:off x="3977640" y="3291840"/>
            <a:ext cx="274320" cy="457200"/>
          </a:xfrm>
          <a:prstGeom prst="chevron">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34840" y="1417320"/>
            <a:ext cx="7132320" cy="365760"/>
          </a:xfrm>
          <a:prstGeom prst="rect">
            <a:avLst/>
          </a:prstGeom>
          <a:noFill/>
        </p:spPr>
        <p:txBody>
          <a:bodyPr wrap="square" lIns="0" rIns="0" tIns="0" bIns="0" anchor="t">
            <a:spAutoFit/>
          </a:bodyPr>
          <a:lstStyle/>
          <a:p>
            <a:r>
              <a:rPr sz="1400" b="1" i="0">
                <a:solidFill>
                  <a:srgbClr val="14424C"/>
                </a:solidFill>
              </a:rPr>
              <a:t>Lagging: outcomes it should drive</a:t>
            </a:r>
          </a:p>
        </p:txBody>
      </p:sp>
      <p:sp>
        <p:nvSpPr>
          <p:cNvPr id="9" name="Rounded Rectangle 8"/>
          <p:cNvSpPr/>
          <p:nvPr/>
        </p:nvSpPr>
        <p:spPr>
          <a:xfrm>
            <a:off x="4434840" y="1874520"/>
            <a:ext cx="7178040" cy="841248"/>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965960"/>
            <a:ext cx="2743200" cy="658368"/>
          </a:xfrm>
          <a:prstGeom prst="rect">
            <a:avLst/>
          </a:prstGeom>
          <a:noFill/>
        </p:spPr>
        <p:txBody>
          <a:bodyPr wrap="square" lIns="0" rIns="0" tIns="0" bIns="0" anchor="ctr">
            <a:spAutoFit/>
          </a:bodyPr>
          <a:lstStyle/>
          <a:p>
            <a:r>
              <a:rPr sz="1300" b="1" i="0">
                <a:solidFill>
                  <a:srgbClr val="14424C"/>
                </a:solidFill>
              </a:rPr>
              <a:t>Unclaimed support</a:t>
            </a:r>
          </a:p>
        </p:txBody>
      </p:sp>
      <p:sp>
        <p:nvSpPr>
          <p:cNvPr id="11" name="TextBox 10"/>
          <p:cNvSpPr txBox="1"/>
          <p:nvPr/>
        </p:nvSpPr>
        <p:spPr>
          <a:xfrm>
            <a:off x="7406640" y="1947672"/>
            <a:ext cx="4069080" cy="384048"/>
          </a:xfrm>
          <a:prstGeom prst="rect">
            <a:avLst/>
          </a:prstGeom>
          <a:noFill/>
        </p:spPr>
        <p:txBody>
          <a:bodyPr wrap="square" lIns="0" rIns="0" tIns="0" bIns="0" anchor="t">
            <a:spAutoFit/>
          </a:bodyPr>
          <a:lstStyle/>
          <a:p>
            <a:r>
              <a:rPr sz="1100" b="0" i="0">
                <a:solidFill>
                  <a:srgbClr val="1D2B30"/>
                </a:solidFill>
              </a:rPr>
              <a:t>Annual value of support eligible households are not getting.</a:t>
            </a:r>
          </a:p>
        </p:txBody>
      </p:sp>
      <p:sp>
        <p:nvSpPr>
          <p:cNvPr id="12" name="TextBox 11"/>
          <p:cNvSpPr txBox="1"/>
          <p:nvPr/>
        </p:nvSpPr>
        <p:spPr>
          <a:xfrm>
            <a:off x="7406640" y="2331720"/>
            <a:ext cx="4069080" cy="347472"/>
          </a:xfrm>
          <a:prstGeom prst="rect">
            <a:avLst/>
          </a:prstGeom>
          <a:noFill/>
        </p:spPr>
        <p:txBody>
          <a:bodyPr wrap="square" lIns="0" rIns="0" tIns="0" bIns="0" anchor="t">
            <a:spAutoFit/>
          </a:bodyPr>
          <a:lstStyle/>
          <a:p>
            <a:r>
              <a:rPr sz="1100" b="0" i="1">
                <a:solidFill>
                  <a:srgbClr val="0F766E"/>
                </a:solidFill>
              </a:rPr>
              <a:t>$160,770 across 50 of 141 households today; target down 50% in a year.</a:t>
            </a:r>
          </a:p>
        </p:txBody>
      </p:sp>
      <p:sp>
        <p:nvSpPr>
          <p:cNvPr id="13" name="Rounded Rectangle 12"/>
          <p:cNvSpPr/>
          <p:nvPr/>
        </p:nvSpPr>
        <p:spPr>
          <a:xfrm>
            <a:off x="4434840" y="2834640"/>
            <a:ext cx="7178040" cy="841248"/>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926080"/>
            <a:ext cx="2743200" cy="658368"/>
          </a:xfrm>
          <a:prstGeom prst="rect">
            <a:avLst/>
          </a:prstGeom>
          <a:noFill/>
        </p:spPr>
        <p:txBody>
          <a:bodyPr wrap="square" lIns="0" rIns="0" tIns="0" bIns="0" anchor="ctr">
            <a:spAutoFit/>
          </a:bodyPr>
          <a:lstStyle/>
          <a:p>
            <a:r>
              <a:rPr sz="1300" b="1" i="0">
                <a:solidFill>
                  <a:srgbClr val="14424C"/>
                </a:solidFill>
              </a:rPr>
              <a:t>Emergency grants</a:t>
            </a:r>
          </a:p>
        </p:txBody>
      </p:sp>
      <p:sp>
        <p:nvSpPr>
          <p:cNvPr id="15" name="TextBox 14"/>
          <p:cNvSpPr txBox="1"/>
          <p:nvPr/>
        </p:nvSpPr>
        <p:spPr>
          <a:xfrm>
            <a:off x="7406640" y="2907792"/>
            <a:ext cx="4069080" cy="384048"/>
          </a:xfrm>
          <a:prstGeom prst="rect">
            <a:avLst/>
          </a:prstGeom>
          <a:noFill/>
        </p:spPr>
        <p:txBody>
          <a:bodyPr wrap="square" lIns="0" rIns="0" tIns="0" bIns="0" anchor="t">
            <a:spAutoFit/>
          </a:bodyPr>
          <a:lstStyle/>
          <a:p>
            <a:r>
              <a:rPr sz="1100" b="0" i="0">
                <a:solidFill>
                  <a:srgbClr val="1D2B30"/>
                </a:solidFill>
              </a:rPr>
              <a:t>Hardship grants paid to households that were owed regular support.</a:t>
            </a:r>
          </a:p>
        </p:txBody>
      </p:sp>
      <p:sp>
        <p:nvSpPr>
          <p:cNvPr id="16" name="TextBox 15"/>
          <p:cNvSpPr txBox="1"/>
          <p:nvPr/>
        </p:nvSpPr>
        <p:spPr>
          <a:xfrm>
            <a:off x="7406640" y="3291840"/>
            <a:ext cx="4069080" cy="347472"/>
          </a:xfrm>
          <a:prstGeom prst="rect">
            <a:avLst/>
          </a:prstGeom>
          <a:noFill/>
        </p:spPr>
        <p:txBody>
          <a:bodyPr wrap="square" lIns="0" rIns="0" tIns="0" bIns="0" anchor="t">
            <a:spAutoFit/>
          </a:bodyPr>
          <a:lstStyle/>
          <a:p>
            <a:r>
              <a:rPr sz="1100" b="0" i="1">
                <a:solidFill>
                  <a:srgbClr val="0F766E"/>
                </a:solidFill>
              </a:rPr>
              <a:t>Baseline set in shadow mode; should fall as support arrives earlier.</a:t>
            </a:r>
          </a:p>
        </p:txBody>
      </p:sp>
      <p:sp>
        <p:nvSpPr>
          <p:cNvPr id="17" name="Rounded Rectangle 16"/>
          <p:cNvSpPr/>
          <p:nvPr/>
        </p:nvSpPr>
        <p:spPr>
          <a:xfrm>
            <a:off x="4434840" y="3794760"/>
            <a:ext cx="7178040" cy="841248"/>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3886200"/>
            <a:ext cx="2743200" cy="658368"/>
          </a:xfrm>
          <a:prstGeom prst="rect">
            <a:avLst/>
          </a:prstGeom>
          <a:noFill/>
        </p:spPr>
        <p:txBody>
          <a:bodyPr wrap="square" lIns="0" rIns="0" tIns="0" bIns="0" anchor="ctr">
            <a:spAutoFit/>
          </a:bodyPr>
          <a:lstStyle/>
          <a:p>
            <a:r>
              <a:rPr sz="1300" b="1" i="0">
                <a:solidFill>
                  <a:srgbClr val="14424C"/>
                </a:solidFill>
              </a:rPr>
              <a:t>Repeat contact</a:t>
            </a:r>
          </a:p>
        </p:txBody>
      </p:sp>
      <p:sp>
        <p:nvSpPr>
          <p:cNvPr id="19" name="TextBox 18"/>
          <p:cNvSpPr txBox="1"/>
          <p:nvPr/>
        </p:nvSpPr>
        <p:spPr>
          <a:xfrm>
            <a:off x="7406640" y="3867912"/>
            <a:ext cx="4069080" cy="384048"/>
          </a:xfrm>
          <a:prstGeom prst="rect">
            <a:avLst/>
          </a:prstGeom>
          <a:noFill/>
        </p:spPr>
        <p:txBody>
          <a:bodyPr wrap="square" lIns="0" rIns="0" tIns="0" bIns="0" anchor="t">
            <a:spAutoFit/>
          </a:bodyPr>
          <a:lstStyle/>
          <a:p>
            <a:r>
              <a:rPr sz="1100" b="0" i="0">
                <a:solidFill>
                  <a:srgbClr val="1D2B30"/>
                </a:solidFill>
              </a:rPr>
              <a:t>Calls and visits per household in the 90 days after a life event.</a:t>
            </a:r>
          </a:p>
        </p:txBody>
      </p:sp>
      <p:sp>
        <p:nvSpPr>
          <p:cNvPr id="20" name="TextBox 19"/>
          <p:cNvSpPr txBox="1"/>
          <p:nvPr/>
        </p:nvSpPr>
        <p:spPr>
          <a:xfrm>
            <a:off x="7406640" y="4251960"/>
            <a:ext cx="4069080" cy="347472"/>
          </a:xfrm>
          <a:prstGeom prst="rect">
            <a:avLst/>
          </a:prstGeom>
          <a:noFill/>
        </p:spPr>
        <p:txBody>
          <a:bodyPr wrap="square" lIns="0" rIns="0" tIns="0" bIns="0" anchor="t">
            <a:spAutoFit/>
          </a:bodyPr>
          <a:lstStyle/>
          <a:p>
            <a:r>
              <a:rPr sz="1100" b="0" i="1">
                <a:solidFill>
                  <a:srgbClr val="0F766E"/>
                </a:solidFill>
              </a:rPr>
              <a:t>Baseline set in shadow mode; fewer chasers, fewer re-applications.</a:t>
            </a:r>
          </a:p>
        </p:txBody>
      </p:sp>
      <p:sp>
        <p:nvSpPr>
          <p:cNvPr id="21" name="Rounded Rectangle 20"/>
          <p:cNvSpPr/>
          <p:nvPr/>
        </p:nvSpPr>
        <p:spPr>
          <a:xfrm>
            <a:off x="4434840" y="4754880"/>
            <a:ext cx="7178040" cy="841248"/>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4846320"/>
            <a:ext cx="2743200" cy="658368"/>
          </a:xfrm>
          <a:prstGeom prst="rect">
            <a:avLst/>
          </a:prstGeom>
          <a:noFill/>
        </p:spPr>
        <p:txBody>
          <a:bodyPr wrap="square" lIns="0" rIns="0" tIns="0" bIns="0" anchor="ctr">
            <a:spAutoFit/>
          </a:bodyPr>
          <a:lstStyle/>
          <a:p>
            <a:r>
              <a:rPr sz="1300" b="1" i="0">
                <a:solidFill>
                  <a:srgbClr val="14424C"/>
                </a:solidFill>
              </a:rPr>
              <a:t>Claimed nothing in a year</a:t>
            </a:r>
          </a:p>
        </p:txBody>
      </p:sp>
      <p:sp>
        <p:nvSpPr>
          <p:cNvPr id="23" name="TextBox 22"/>
          <p:cNvSpPr txBox="1"/>
          <p:nvPr/>
        </p:nvSpPr>
        <p:spPr>
          <a:xfrm>
            <a:off x="7406640" y="4828032"/>
            <a:ext cx="4069080" cy="384048"/>
          </a:xfrm>
          <a:prstGeom prst="rect">
            <a:avLst/>
          </a:prstGeom>
          <a:noFill/>
        </p:spPr>
        <p:txBody>
          <a:bodyPr wrap="square" lIns="0" rIns="0" tIns="0" bIns="0" anchor="t">
            <a:spAutoFit/>
          </a:bodyPr>
          <a:lstStyle/>
          <a:p>
            <a:r>
              <a:rPr sz="1100" b="0" i="0">
                <a:solidFill>
                  <a:srgbClr val="1D2B30"/>
                </a:solidFill>
              </a:rPr>
              <a:t>Households with a life event who claimed nothing within 12 months.</a:t>
            </a:r>
          </a:p>
        </p:txBody>
      </p:sp>
      <p:sp>
        <p:nvSpPr>
          <p:cNvPr id="24" name="TextBox 23"/>
          <p:cNvSpPr txBox="1"/>
          <p:nvPr/>
        </p:nvSpPr>
        <p:spPr>
          <a:xfrm>
            <a:off x="7406640" y="5212080"/>
            <a:ext cx="4069080" cy="347472"/>
          </a:xfrm>
          <a:prstGeom prst="rect">
            <a:avLst/>
          </a:prstGeom>
          <a:noFill/>
        </p:spPr>
        <p:txBody>
          <a:bodyPr wrap="square" lIns="0" rIns="0" tIns="0" bIns="0" anchor="t">
            <a:spAutoFit/>
          </a:bodyPr>
          <a:lstStyle/>
          <a:p>
            <a:r>
              <a:rPr sz="1100" b="0" i="1">
                <a:solidFill>
                  <a:srgbClr val="0F766E"/>
                </a:solidFill>
              </a:rPr>
              <a:t>42% today; target under 15%.</a:t>
            </a:r>
          </a:p>
        </p:txBody>
      </p:sp>
      <p:sp>
        <p:nvSpPr>
          <p:cNvPr id="25" name="Rounded Rectangle 24"/>
          <p:cNvSpPr/>
          <p:nvPr/>
        </p:nvSpPr>
        <p:spPr>
          <a:xfrm>
            <a:off x="548640" y="5760720"/>
            <a:ext cx="11064240" cy="502920"/>
          </a:xfrm>
          <a:prstGeom prst="roundRect">
            <a:avLst>
              <a:gd name="adj" fmla="val 20000"/>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806440"/>
            <a:ext cx="10607040" cy="411480"/>
          </a:xfrm>
          <a:prstGeom prst="rect">
            <a:avLst/>
          </a:prstGeom>
          <a:noFill/>
        </p:spPr>
        <p:txBody>
          <a:bodyPr wrap="square" lIns="0" rIns="0" tIns="0" bIns="0" anchor="ctr">
            <a:spAutoFit/>
          </a:bodyPr>
          <a:lstStyle/>
          <a:p>
            <a:r>
              <a:rPr sz="1100" b="1">
                <a:solidFill>
                  <a:srgbClr val="C2463F"/>
                </a:solidFill>
              </a:rPr>
              <a:t>Counter-metric: </a:t>
            </a:r>
            <a:r>
              <a:rPr sz="1100" b="0">
                <a:solidFill>
                  <a:srgbClr val="1D2B30"/>
                </a:solidFill>
              </a:rPr>
              <a:t>complaints about unexpected contact and messages sent that lead to no claim. Target under 1% and tracked by language, so reaching more people never means pestering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Passes every launch eval, offline and live on Groq</a:t>
            </a:r>
          </a:p>
        </p:txBody>
      </p:sp>
      <p:graphicFrame>
        <p:nvGraphicFramePr>
          <p:cNvPr id="3" name="Chart 2"/>
          <p:cNvGraphicFramePr>
            <a:graphicFrameLocks noGrp="1"/>
          </p:cNvGraphicFramePr>
          <p:nvPr/>
        </p:nvGraphicFramePr>
        <p:xfrm>
          <a:off x="548640" y="1371600"/>
          <a:ext cx="6766560" cy="4754880"/>
        </p:xfrm>
        <a:graphic>
          <a:graphicData uri="http://schemas.openxmlformats.org/drawingml/2006/chart">
            <c:chart xmlns:c="http://schemas.openxmlformats.org/drawingml/2006/chart" r:id="rId3"/>
          </a:graphicData>
        </a:graphic>
      </p:graphicFrame>
      <p:sp>
        <p:nvSpPr>
          <p:cNvPr id="4" name="Rounded Rectangle 3"/>
          <p:cNvSpPr/>
          <p:nvPr/>
        </p:nvSpPr>
        <p:spPr>
          <a:xfrm>
            <a:off x="7680960" y="1463040"/>
            <a:ext cx="3931920" cy="1965960"/>
          </a:xfrm>
          <a:prstGeom prst="roundRect">
            <a:avLst>
              <a:gd name="adj" fmla="val 5000"/>
            </a:avLst>
          </a:prstGeom>
          <a:solidFill>
            <a:srgbClr val="1442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0" y="1645920"/>
            <a:ext cx="3383280" cy="685800"/>
          </a:xfrm>
          <a:prstGeom prst="rect">
            <a:avLst/>
          </a:prstGeom>
          <a:noFill/>
        </p:spPr>
        <p:txBody>
          <a:bodyPr wrap="square" lIns="0" rIns="0" tIns="0" bIns="0" anchor="t">
            <a:spAutoFit/>
          </a:bodyPr>
          <a:lstStyle/>
          <a:p>
            <a:r>
              <a:rPr sz="3000" b="1" i="0">
                <a:solidFill>
                  <a:srgbClr val="E8A33D"/>
                </a:solidFill>
                <a:latin typeface="Cambria"/>
              </a:rPr>
              <a:t>0 / 0 / 0 / 0</a:t>
            </a:r>
          </a:p>
        </p:txBody>
      </p:sp>
      <p:sp>
        <p:nvSpPr>
          <p:cNvPr id="6" name="TextBox 5"/>
          <p:cNvSpPr txBox="1"/>
          <p:nvPr/>
        </p:nvSpPr>
        <p:spPr>
          <a:xfrm>
            <a:off x="7955280" y="2377440"/>
            <a:ext cx="3383280" cy="914400"/>
          </a:xfrm>
          <a:prstGeom prst="rect">
            <a:avLst/>
          </a:prstGeom>
          <a:noFill/>
        </p:spPr>
        <p:txBody>
          <a:bodyPr wrap="square" lIns="0" rIns="0" tIns="0" bIns="0" anchor="t">
            <a:spAutoFit/>
          </a:bodyPr>
          <a:lstStyle/>
          <a:p>
            <a:r>
              <a:rPr sz="1200" b="0" i="0">
                <a:solidFill>
                  <a:srgbClr val="FFFFFF"/>
                </a:solidFill>
              </a:rPr>
              <a:t>unquoted facts shown, caseworker-only schemes marked eligible, drafts to opted-out people, crises missed without a person</a:t>
            </a:r>
          </a:p>
        </p:txBody>
      </p:sp>
      <p:sp>
        <p:nvSpPr>
          <p:cNvPr id="7" name="Rounded Rectangle 6"/>
          <p:cNvSpPr/>
          <p:nvPr/>
        </p:nvSpPr>
        <p:spPr>
          <a:xfrm>
            <a:off x="7680960" y="3611880"/>
            <a:ext cx="3931920" cy="2514600"/>
          </a:xfrm>
          <a:prstGeom prst="roundRect">
            <a:avLst>
              <a:gd name="adj" fmla="val 5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0" y="3794760"/>
            <a:ext cx="3383280" cy="365760"/>
          </a:xfrm>
          <a:prstGeom prst="rect">
            <a:avLst/>
          </a:prstGeom>
          <a:noFill/>
        </p:spPr>
        <p:txBody>
          <a:bodyPr wrap="square" lIns="0" rIns="0" tIns="0" bIns="0" anchor="t">
            <a:spAutoFit/>
          </a:bodyPr>
          <a:lstStyle/>
          <a:p>
            <a:r>
              <a:rPr sz="1400" b="1" i="0">
                <a:solidFill>
                  <a:srgbClr val="14424C"/>
                </a:solidFill>
              </a:rPr>
              <a:t>The build is the gate</a:t>
            </a:r>
          </a:p>
        </p:txBody>
      </p:sp>
      <p:sp>
        <p:nvSpPr>
          <p:cNvPr id="9" name="TextBox 8"/>
          <p:cNvSpPr txBox="1"/>
          <p:nvPr/>
        </p:nvSpPr>
        <p:spPr>
          <a:xfrm>
            <a:off x="7955280" y="4206240"/>
            <a:ext cx="3383280" cy="1783080"/>
          </a:xfrm>
          <a:prstGeom prst="rect">
            <a:avLst/>
          </a:prstGeom>
          <a:noFill/>
        </p:spPr>
        <p:txBody>
          <a:bodyPr wrap="square" lIns="0" rIns="0" tIns="0" bIns="0" anchor="t">
            <a:spAutoFit/>
          </a:bodyPr>
          <a:lstStyle/>
          <a:p>
            <a:r>
              <a:rPr sz="1200" b="0" i="0">
                <a:solidFill>
                  <a:srgbClr val="1D2B30"/>
                </a:solidFill>
              </a:rPr>
              <a:t>Labels come from an independent Python version of the rules, so the engine is checked against something it didn't produce. Deployment fails if any threshold fails. Live mode reads the Spanish eviction message that Offline mode can only flag, and gets all 40 cases exactly right.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highest risks, and the guardrail for each</a:t>
            </a:r>
          </a:p>
        </p:txBody>
      </p:sp>
      <p:sp>
        <p:nvSpPr>
          <p:cNvPr id="3" name="Rounded Rectangle 2"/>
          <p:cNvSpPr/>
          <p:nvPr/>
        </p:nvSpPr>
        <p:spPr>
          <a:xfrm>
            <a:off x="548640" y="1371600"/>
            <a:ext cx="3931920" cy="777240"/>
          </a:xfrm>
          <a:prstGeom prst="roundRect">
            <a:avLst>
              <a:gd name="adj" fmla="val 14000"/>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63040"/>
            <a:ext cx="3566160" cy="594360"/>
          </a:xfrm>
          <a:prstGeom prst="rect">
            <a:avLst/>
          </a:prstGeom>
          <a:noFill/>
        </p:spPr>
        <p:txBody>
          <a:bodyPr wrap="square" lIns="0" rIns="0" tIns="0" bIns="0" anchor="ctr">
            <a:spAutoFit/>
          </a:bodyPr>
          <a:lstStyle/>
          <a:p>
            <a:r>
              <a:rPr sz="1300" b="1" i="0">
                <a:solidFill>
                  <a:srgbClr val="C2463F"/>
                </a:solidFill>
              </a:rPr>
              <a:t>A wrong amount or promise reaches a citizen</a:t>
            </a:r>
          </a:p>
        </p:txBody>
      </p:sp>
      <p:sp>
        <p:nvSpPr>
          <p:cNvPr id="5" name="Chevron 4"/>
          <p:cNvSpPr/>
          <p:nvPr/>
        </p:nvSpPr>
        <p:spPr>
          <a:xfrm>
            <a:off x="4572000" y="1627632"/>
            <a:ext cx="146304" cy="274320"/>
          </a:xfrm>
          <a:prstGeom prst="chevron">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846320" y="1371600"/>
            <a:ext cx="6766560" cy="777240"/>
          </a:xfrm>
          <a:prstGeom prst="roundRect">
            <a:avLst>
              <a:gd name="adj" fmla="val 1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74920" y="1463040"/>
            <a:ext cx="6400800" cy="594360"/>
          </a:xfrm>
          <a:prstGeom prst="rect">
            <a:avLst/>
          </a:prstGeom>
          <a:noFill/>
        </p:spPr>
        <p:txBody>
          <a:bodyPr wrap="square" lIns="0" rIns="0" tIns="0" bIns="0" anchor="ctr">
            <a:spAutoFit/>
          </a:bodyPr>
          <a:lstStyle/>
          <a:p>
            <a:r>
              <a:rPr sz="1200" b="0" i="0">
                <a:solidFill>
                  <a:srgbClr val="1D2B30"/>
                </a:solidFill>
              </a:rPr>
              <a:t>Amounts only from the rules; promise language blocked; failing drafts can't be approved; checks re-run on every edit.</a:t>
            </a:r>
          </a:p>
        </p:txBody>
      </p:sp>
      <p:sp>
        <p:nvSpPr>
          <p:cNvPr id="8" name="Rounded Rectangle 7"/>
          <p:cNvSpPr/>
          <p:nvPr/>
        </p:nvSpPr>
        <p:spPr>
          <a:xfrm>
            <a:off x="548640" y="2267712"/>
            <a:ext cx="3931920" cy="777240"/>
          </a:xfrm>
          <a:prstGeom prst="roundRect">
            <a:avLst>
              <a:gd name="adj" fmla="val 14000"/>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359152"/>
            <a:ext cx="3566160" cy="594360"/>
          </a:xfrm>
          <a:prstGeom prst="rect">
            <a:avLst/>
          </a:prstGeom>
          <a:noFill/>
        </p:spPr>
        <p:txBody>
          <a:bodyPr wrap="square" lIns="0" rIns="0" tIns="0" bIns="0" anchor="ctr">
            <a:spAutoFit/>
          </a:bodyPr>
          <a:lstStyle/>
          <a:p>
            <a:r>
              <a:rPr sz="1300" b="1" i="0">
                <a:solidFill>
                  <a:srgbClr val="C2463F"/>
                </a:solidFill>
              </a:rPr>
              <a:t>The AI invents a fact</a:t>
            </a:r>
          </a:p>
        </p:txBody>
      </p:sp>
      <p:sp>
        <p:nvSpPr>
          <p:cNvPr id="10" name="Chevron 9"/>
          <p:cNvSpPr/>
          <p:nvPr/>
        </p:nvSpPr>
        <p:spPr>
          <a:xfrm>
            <a:off x="4572000" y="2523744"/>
            <a:ext cx="146304" cy="274320"/>
          </a:xfrm>
          <a:prstGeom prst="chevron">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46320" y="2267712"/>
            <a:ext cx="6766560" cy="777240"/>
          </a:xfrm>
          <a:prstGeom prst="roundRect">
            <a:avLst>
              <a:gd name="adj" fmla="val 1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4920" y="2359152"/>
            <a:ext cx="6400800" cy="594360"/>
          </a:xfrm>
          <a:prstGeom prst="rect">
            <a:avLst/>
          </a:prstGeom>
          <a:noFill/>
        </p:spPr>
        <p:txBody>
          <a:bodyPr wrap="square" lIns="0" rIns="0" tIns="0" bIns="0" anchor="ctr">
            <a:spAutoFit/>
          </a:bodyPr>
          <a:lstStyle/>
          <a:p>
            <a:r>
              <a:rPr sz="1200" b="0" i="0">
                <a:solidFill>
                  <a:srgbClr val="1D2B30"/>
                </a:solidFill>
              </a:rPr>
              <a:t>Every fact must quote its source verbatim, or it is dropped. Eval: 0 unquoted facts shown.</a:t>
            </a:r>
          </a:p>
        </p:txBody>
      </p:sp>
      <p:sp>
        <p:nvSpPr>
          <p:cNvPr id="13" name="Rounded Rectangle 12"/>
          <p:cNvSpPr/>
          <p:nvPr/>
        </p:nvSpPr>
        <p:spPr>
          <a:xfrm>
            <a:off x="548640" y="3163824"/>
            <a:ext cx="3931920" cy="777240"/>
          </a:xfrm>
          <a:prstGeom prst="roundRect">
            <a:avLst>
              <a:gd name="adj" fmla="val 14000"/>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55264"/>
            <a:ext cx="3566160" cy="594360"/>
          </a:xfrm>
          <a:prstGeom prst="rect">
            <a:avLst/>
          </a:prstGeom>
          <a:noFill/>
        </p:spPr>
        <p:txBody>
          <a:bodyPr wrap="square" lIns="0" rIns="0" tIns="0" bIns="0" anchor="ctr">
            <a:spAutoFit/>
          </a:bodyPr>
          <a:lstStyle/>
          <a:p>
            <a:r>
              <a:rPr sz="1300" b="1" i="0">
                <a:solidFill>
                  <a:srgbClr val="C2463F"/>
                </a:solidFill>
              </a:rPr>
              <a:t>The AI decides who gets support</a:t>
            </a:r>
          </a:p>
        </p:txBody>
      </p:sp>
      <p:sp>
        <p:nvSpPr>
          <p:cNvPr id="15" name="Chevron 14"/>
          <p:cNvSpPr/>
          <p:nvPr/>
        </p:nvSpPr>
        <p:spPr>
          <a:xfrm>
            <a:off x="4572000" y="3419856"/>
            <a:ext cx="146304" cy="274320"/>
          </a:xfrm>
          <a:prstGeom prst="chevron">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46320" y="3163824"/>
            <a:ext cx="6766560" cy="777240"/>
          </a:xfrm>
          <a:prstGeom prst="roundRect">
            <a:avLst>
              <a:gd name="adj" fmla="val 1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0" y="3255264"/>
            <a:ext cx="6400800" cy="594360"/>
          </a:xfrm>
          <a:prstGeom prst="rect">
            <a:avLst/>
          </a:prstGeom>
          <a:noFill/>
        </p:spPr>
        <p:txBody>
          <a:bodyPr wrap="square" lIns="0" rIns="0" tIns="0" bIns="0" anchor="ctr">
            <a:spAutoFit/>
          </a:bodyPr>
          <a:lstStyle/>
          <a:p>
            <a:r>
              <a:rPr sz="1200" b="0" i="0">
                <a:solidFill>
                  <a:srgbClr val="1D2B30"/>
                </a:solidFill>
              </a:rPr>
              <a:t>Eligibility is code citing law. Disability and Hardship always go to a person.</a:t>
            </a:r>
          </a:p>
        </p:txBody>
      </p:sp>
      <p:sp>
        <p:nvSpPr>
          <p:cNvPr id="18" name="Rounded Rectangle 17"/>
          <p:cNvSpPr/>
          <p:nvPr/>
        </p:nvSpPr>
        <p:spPr>
          <a:xfrm>
            <a:off x="548640" y="4059936"/>
            <a:ext cx="3931920" cy="777240"/>
          </a:xfrm>
          <a:prstGeom prst="roundRect">
            <a:avLst>
              <a:gd name="adj" fmla="val 14000"/>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151376"/>
            <a:ext cx="3566160" cy="594360"/>
          </a:xfrm>
          <a:prstGeom prst="rect">
            <a:avLst/>
          </a:prstGeom>
          <a:noFill/>
        </p:spPr>
        <p:txBody>
          <a:bodyPr wrap="square" lIns="0" rIns="0" tIns="0" bIns="0" anchor="ctr">
            <a:spAutoFit/>
          </a:bodyPr>
          <a:lstStyle/>
          <a:p>
            <a:r>
              <a:rPr sz="1300" b="1" i="0">
                <a:solidFill>
                  <a:srgbClr val="C2463F"/>
                </a:solidFill>
              </a:rPr>
              <a:t>A crisis is missed</a:t>
            </a:r>
          </a:p>
        </p:txBody>
      </p:sp>
      <p:sp>
        <p:nvSpPr>
          <p:cNvPr id="20" name="Chevron 19"/>
          <p:cNvSpPr/>
          <p:nvPr/>
        </p:nvSpPr>
        <p:spPr>
          <a:xfrm>
            <a:off x="4572000" y="4315968"/>
            <a:ext cx="146304" cy="274320"/>
          </a:xfrm>
          <a:prstGeom prst="chevron">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846320" y="4059936"/>
            <a:ext cx="6766560" cy="777240"/>
          </a:xfrm>
          <a:prstGeom prst="roundRect">
            <a:avLst>
              <a:gd name="adj" fmla="val 1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4151376"/>
            <a:ext cx="6400800" cy="594360"/>
          </a:xfrm>
          <a:prstGeom prst="rect">
            <a:avLst/>
          </a:prstGeom>
          <a:noFill/>
        </p:spPr>
        <p:txBody>
          <a:bodyPr wrap="square" lIns="0" rIns="0" tIns="0" bIns="0" anchor="ctr">
            <a:spAutoFit/>
          </a:bodyPr>
          <a:lstStyle/>
          <a:p>
            <a:r>
              <a:rPr sz="1200" b="0" i="0">
                <a:solidFill>
                  <a:srgbClr val="1D2B30"/>
                </a:solidFill>
              </a:rPr>
              <a:t>Hardship ranks Urgent; anything unreadable ranks Read now. Eval: 0 silent misses.</a:t>
            </a:r>
          </a:p>
        </p:txBody>
      </p:sp>
      <p:sp>
        <p:nvSpPr>
          <p:cNvPr id="23" name="Rounded Rectangle 22"/>
          <p:cNvSpPr/>
          <p:nvPr/>
        </p:nvSpPr>
        <p:spPr>
          <a:xfrm>
            <a:off x="548640" y="4956048"/>
            <a:ext cx="3931920" cy="777240"/>
          </a:xfrm>
          <a:prstGeom prst="roundRect">
            <a:avLst>
              <a:gd name="adj" fmla="val 14000"/>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047488"/>
            <a:ext cx="3566160" cy="594360"/>
          </a:xfrm>
          <a:prstGeom prst="rect">
            <a:avLst/>
          </a:prstGeom>
          <a:noFill/>
        </p:spPr>
        <p:txBody>
          <a:bodyPr wrap="square" lIns="0" rIns="0" tIns="0" bIns="0" anchor="ctr">
            <a:spAutoFit/>
          </a:bodyPr>
          <a:lstStyle/>
          <a:p>
            <a:r>
              <a:rPr sz="1300" b="1" i="0">
                <a:solidFill>
                  <a:srgbClr val="C2463F"/>
                </a:solidFill>
              </a:rPr>
              <a:t>Contact feels like surveillance</a:t>
            </a:r>
          </a:p>
        </p:txBody>
      </p:sp>
      <p:sp>
        <p:nvSpPr>
          <p:cNvPr id="25" name="Chevron 24"/>
          <p:cNvSpPr/>
          <p:nvPr/>
        </p:nvSpPr>
        <p:spPr>
          <a:xfrm>
            <a:off x="4572000" y="5212080"/>
            <a:ext cx="146304" cy="274320"/>
          </a:xfrm>
          <a:prstGeom prst="chevron">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46320" y="4956048"/>
            <a:ext cx="6766560" cy="777240"/>
          </a:xfrm>
          <a:prstGeom prst="roundRect">
            <a:avLst>
              <a:gd name="adj" fmla="val 1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0" y="5047488"/>
            <a:ext cx="6400800" cy="594360"/>
          </a:xfrm>
          <a:prstGeom prst="rect">
            <a:avLst/>
          </a:prstGeom>
          <a:noFill/>
        </p:spPr>
        <p:txBody>
          <a:bodyPr wrap="square" lIns="0" rIns="0" tIns="0" bIns="0" anchor="ctr">
            <a:spAutoFit/>
          </a:bodyPr>
          <a:lstStyle/>
          <a:p>
            <a:r>
              <a:rPr sz="1200" b="0" i="0">
                <a:solidFill>
                  <a:srgbClr val="1D2B30"/>
                </a:solidFill>
              </a:rPr>
              <a:t>Only events the agency already receives; opt-out respected; no protected traits or fraud scoring.</a:t>
            </a:r>
          </a:p>
        </p:txBody>
      </p:sp>
      <p:sp>
        <p:nvSpPr>
          <p:cNvPr id="28" name="TextBox 27"/>
          <p:cNvSpPr txBox="1"/>
          <p:nvPr/>
        </p:nvSpPr>
        <p:spPr>
          <a:xfrm>
            <a:off x="548640" y="5897880"/>
            <a:ext cx="11064240" cy="365760"/>
          </a:xfrm>
          <a:prstGeom prst="rect">
            <a:avLst/>
          </a:prstGeom>
          <a:noFill/>
        </p:spPr>
        <p:txBody>
          <a:bodyPr wrap="square" lIns="0" rIns="0" tIns="0" bIns="0" anchor="t">
            <a:spAutoFit/>
          </a:bodyPr>
          <a:lstStyle/>
          <a:p>
            <a:r>
              <a:rPr sz="1100" b="0" i="1">
                <a:solidFill>
                  <a:srgbClr val="C2463F"/>
                </a:solidFill>
              </a:rPr>
              <a:t>Kill switch: any message or award without approval, any unquoted fact or unapproved amount, any missed crisis, or any contact after opt-out returns the region to the manual process.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Rollout earns trust in stages</a:t>
            </a:r>
          </a:p>
        </p:txBody>
      </p:sp>
      <p:cxnSp>
        <p:nvCxnSpPr>
          <p:cNvPr id="3" name="Connector 2"/>
          <p:cNvCxnSpPr/>
          <p:nvPr/>
        </p:nvCxnSpPr>
        <p:spPr>
          <a:xfrm>
            <a:off x="822960" y="1828800"/>
            <a:ext cx="10515600" cy="0"/>
          </a:xfrm>
          <a:prstGeom prst="line">
            <a:avLst/>
          </a:prstGeom>
          <a:ln w="25400">
            <a:solidFill>
              <a:srgbClr val="5B7C99"/>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731520" y="166420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194560"/>
            <a:ext cx="2606040" cy="2743200"/>
          </a:xfrm>
          <a:prstGeom prst="roundRect">
            <a:avLst>
              <a:gd name="adj" fmla="val 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0"/>
            <a:ext cx="2148840" cy="365760"/>
          </a:xfrm>
          <a:prstGeom prst="rect">
            <a:avLst/>
          </a:prstGeom>
          <a:noFill/>
        </p:spPr>
        <p:txBody>
          <a:bodyPr wrap="square" lIns="0" rIns="0" tIns="0" bIns="0" anchor="t">
            <a:spAutoFit/>
          </a:bodyPr>
          <a:lstStyle/>
          <a:p>
            <a:r>
              <a:rPr sz="1200" b="1" i="0">
                <a:solidFill>
                  <a:srgbClr val="0F766E"/>
                </a:solidFill>
              </a:rPr>
              <a:t>Oct 2026</a:t>
            </a:r>
          </a:p>
        </p:txBody>
      </p:sp>
      <p:sp>
        <p:nvSpPr>
          <p:cNvPr id="7" name="TextBox 6"/>
          <p:cNvSpPr txBox="1"/>
          <p:nvPr/>
        </p:nvSpPr>
        <p:spPr>
          <a:xfrm>
            <a:off x="777240" y="2743200"/>
            <a:ext cx="2148840" cy="685800"/>
          </a:xfrm>
          <a:prstGeom prst="rect">
            <a:avLst/>
          </a:prstGeom>
          <a:noFill/>
        </p:spPr>
        <p:txBody>
          <a:bodyPr wrap="square" lIns="0" rIns="0" tIns="0" bIns="0" anchor="t">
            <a:spAutoFit/>
          </a:bodyPr>
          <a:lstStyle/>
          <a:p>
            <a:r>
              <a:rPr sz="1500" b="1" i="0">
                <a:solidFill>
                  <a:srgbClr val="14424C"/>
                </a:solidFill>
              </a:rPr>
              <a:t>Prototype on synthetic data</a:t>
            </a:r>
          </a:p>
        </p:txBody>
      </p:sp>
      <p:sp>
        <p:nvSpPr>
          <p:cNvPr id="8" name="TextBox 7"/>
          <p:cNvSpPr txBox="1"/>
          <p:nvPr/>
        </p:nvSpPr>
        <p:spPr>
          <a:xfrm>
            <a:off x="777240" y="3429000"/>
            <a:ext cx="2148840" cy="1097280"/>
          </a:xfrm>
          <a:prstGeom prst="rect">
            <a:avLst/>
          </a:prstGeom>
          <a:noFill/>
        </p:spPr>
        <p:txBody>
          <a:bodyPr wrap="square" lIns="0" rIns="0" tIns="0" bIns="0" anchor="t">
            <a:spAutoFit/>
          </a:bodyPr>
          <a:lstStyle/>
          <a:p>
            <a:r>
              <a:rPr sz="1200" b="0" i="0">
                <a:solidFill>
                  <a:srgbClr val="1D2B30"/>
                </a:solidFill>
              </a:rPr>
              <a:t>Gate: every launch eval passes</a:t>
            </a:r>
          </a:p>
        </p:txBody>
      </p:sp>
      <p:sp>
        <p:nvSpPr>
          <p:cNvPr id="9" name="TextBox 8"/>
          <p:cNvSpPr txBox="1"/>
          <p:nvPr/>
        </p:nvSpPr>
        <p:spPr>
          <a:xfrm>
            <a:off x="777240" y="4480560"/>
            <a:ext cx="2148840" cy="320040"/>
          </a:xfrm>
          <a:prstGeom prst="rect">
            <a:avLst/>
          </a:prstGeom>
          <a:noFill/>
        </p:spPr>
        <p:txBody>
          <a:bodyPr wrap="square" lIns="0" rIns="0" tIns="0" bIns="0" anchor="t">
            <a:spAutoFit/>
          </a:bodyPr>
          <a:lstStyle/>
          <a:p>
            <a:r>
              <a:rPr sz="1100" b="1" i="0">
                <a:solidFill>
                  <a:srgbClr val="0F766E"/>
                </a:solidFill>
              </a:rPr>
              <a:t>Done: working prototype</a:t>
            </a:r>
          </a:p>
        </p:txBody>
      </p:sp>
      <p:sp>
        <p:nvSpPr>
          <p:cNvPr id="10" name="Oval 9"/>
          <p:cNvSpPr/>
          <p:nvPr/>
        </p:nvSpPr>
        <p:spPr>
          <a:xfrm>
            <a:off x="3547872" y="1664208"/>
            <a:ext cx="329184" cy="329184"/>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64992" y="2194560"/>
            <a:ext cx="2606040" cy="2743200"/>
          </a:xfrm>
          <a:prstGeom prst="roundRect">
            <a:avLst>
              <a:gd name="adj" fmla="val 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377440"/>
            <a:ext cx="2148840" cy="365760"/>
          </a:xfrm>
          <a:prstGeom prst="rect">
            <a:avLst/>
          </a:prstGeom>
          <a:noFill/>
        </p:spPr>
        <p:txBody>
          <a:bodyPr wrap="square" lIns="0" rIns="0" tIns="0" bIns="0" anchor="t">
            <a:spAutoFit/>
          </a:bodyPr>
          <a:lstStyle/>
          <a:p>
            <a:r>
              <a:rPr sz="1200" b="1" i="0">
                <a:solidFill>
                  <a:srgbClr val="0F766E"/>
                </a:solidFill>
              </a:rPr>
              <a:t>Q1 2027</a:t>
            </a:r>
          </a:p>
        </p:txBody>
      </p:sp>
      <p:sp>
        <p:nvSpPr>
          <p:cNvPr id="13" name="TextBox 12"/>
          <p:cNvSpPr txBox="1"/>
          <p:nvPr/>
        </p:nvSpPr>
        <p:spPr>
          <a:xfrm>
            <a:off x="3593592" y="2743200"/>
            <a:ext cx="2148840" cy="685800"/>
          </a:xfrm>
          <a:prstGeom prst="rect">
            <a:avLst/>
          </a:prstGeom>
          <a:noFill/>
        </p:spPr>
        <p:txBody>
          <a:bodyPr wrap="square" lIns="0" rIns="0" tIns="0" bIns="0" anchor="t">
            <a:spAutoFit/>
          </a:bodyPr>
          <a:lstStyle/>
          <a:p>
            <a:r>
              <a:rPr sz="1500" b="1" i="0">
                <a:solidFill>
                  <a:srgbClr val="14424C"/>
                </a:solidFill>
              </a:rPr>
              <a:t>Shadow mode, one region</a:t>
            </a:r>
          </a:p>
        </p:txBody>
      </p:sp>
      <p:sp>
        <p:nvSpPr>
          <p:cNvPr id="14" name="TextBox 13"/>
          <p:cNvSpPr txBox="1"/>
          <p:nvPr/>
        </p:nvSpPr>
        <p:spPr>
          <a:xfrm>
            <a:off x="3593592" y="3429000"/>
            <a:ext cx="2148840" cy="1097280"/>
          </a:xfrm>
          <a:prstGeom prst="rect">
            <a:avLst/>
          </a:prstGeom>
          <a:noFill/>
        </p:spPr>
        <p:txBody>
          <a:bodyPr wrap="square" lIns="0" rIns="0" tIns="0" bIns="0" anchor="t">
            <a:spAutoFit/>
          </a:bodyPr>
          <a:lstStyle/>
          <a:p>
            <a:r>
              <a:rPr sz="1200" b="0" i="0">
                <a:solidFill>
                  <a:srgbClr val="1D2B30"/>
                </a:solidFill>
              </a:rPr>
              <a:t>Nothing sent. Gate: live evals pass on 500 real events; DPIA signed</a:t>
            </a:r>
          </a:p>
        </p:txBody>
      </p:sp>
      <p:sp>
        <p:nvSpPr>
          <p:cNvPr id="15" name="Oval 14"/>
          <p:cNvSpPr/>
          <p:nvPr/>
        </p:nvSpPr>
        <p:spPr>
          <a:xfrm>
            <a:off x="6364224" y="1664208"/>
            <a:ext cx="329184" cy="329184"/>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81344" y="2194560"/>
            <a:ext cx="2606040" cy="2743200"/>
          </a:xfrm>
          <a:prstGeom prst="roundRect">
            <a:avLst>
              <a:gd name="adj" fmla="val 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2377440"/>
            <a:ext cx="2148840" cy="365760"/>
          </a:xfrm>
          <a:prstGeom prst="rect">
            <a:avLst/>
          </a:prstGeom>
          <a:noFill/>
        </p:spPr>
        <p:txBody>
          <a:bodyPr wrap="square" lIns="0" rIns="0" tIns="0" bIns="0" anchor="t">
            <a:spAutoFit/>
          </a:bodyPr>
          <a:lstStyle/>
          <a:p>
            <a:r>
              <a:rPr sz="1200" b="1" i="0">
                <a:solidFill>
                  <a:srgbClr val="0F766E"/>
                </a:solidFill>
              </a:rPr>
              <a:t>Q2 2027</a:t>
            </a:r>
          </a:p>
        </p:txBody>
      </p:sp>
      <p:sp>
        <p:nvSpPr>
          <p:cNvPr id="18" name="TextBox 17"/>
          <p:cNvSpPr txBox="1"/>
          <p:nvPr/>
        </p:nvSpPr>
        <p:spPr>
          <a:xfrm>
            <a:off x="6409944" y="2743200"/>
            <a:ext cx="2148840" cy="685800"/>
          </a:xfrm>
          <a:prstGeom prst="rect">
            <a:avLst/>
          </a:prstGeom>
          <a:noFill/>
        </p:spPr>
        <p:txBody>
          <a:bodyPr wrap="square" lIns="0" rIns="0" tIns="0" bIns="0" anchor="t">
            <a:spAutoFit/>
          </a:bodyPr>
          <a:lstStyle/>
          <a:p>
            <a:r>
              <a:rPr sz="1500" b="1" i="0">
                <a:solidFill>
                  <a:srgbClr val="14424C"/>
                </a:solidFill>
              </a:rPr>
              <a:t>Assisted pilot, 10 caseworkers</a:t>
            </a:r>
          </a:p>
        </p:txBody>
      </p:sp>
      <p:sp>
        <p:nvSpPr>
          <p:cNvPr id="19" name="TextBox 18"/>
          <p:cNvSpPr txBox="1"/>
          <p:nvPr/>
        </p:nvSpPr>
        <p:spPr>
          <a:xfrm>
            <a:off x="6409944" y="3429000"/>
            <a:ext cx="2148840" cy="1097280"/>
          </a:xfrm>
          <a:prstGeom prst="rect">
            <a:avLst/>
          </a:prstGeom>
          <a:noFill/>
        </p:spPr>
        <p:txBody>
          <a:bodyPr wrap="square" lIns="0" rIns="0" tIns="0" bIns="0" anchor="t">
            <a:spAutoFit/>
          </a:bodyPr>
          <a:lstStyle/>
          <a:p>
            <a:r>
              <a:rPr sz="1200" b="0" i="0">
                <a:solidFill>
                  <a:srgbClr val="1D2B30"/>
                </a:solidFill>
              </a:rPr>
              <a:t>Gate: 85%+ approvals, 0 breaches, reviews under 15 min</a:t>
            </a:r>
          </a:p>
        </p:txBody>
      </p:sp>
      <p:sp>
        <p:nvSpPr>
          <p:cNvPr id="20" name="Oval 19"/>
          <p:cNvSpPr/>
          <p:nvPr/>
        </p:nvSpPr>
        <p:spPr>
          <a:xfrm>
            <a:off x="9180576" y="1664208"/>
            <a:ext cx="329184" cy="329184"/>
          </a:xfrm>
          <a:prstGeom prst="ellipse">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97696" y="2194560"/>
            <a:ext cx="2606040" cy="2743200"/>
          </a:xfrm>
          <a:prstGeom prst="roundRect">
            <a:avLst>
              <a:gd name="adj" fmla="val 4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2377440"/>
            <a:ext cx="2148840" cy="365760"/>
          </a:xfrm>
          <a:prstGeom prst="rect">
            <a:avLst/>
          </a:prstGeom>
          <a:noFill/>
        </p:spPr>
        <p:txBody>
          <a:bodyPr wrap="square" lIns="0" rIns="0" tIns="0" bIns="0" anchor="t">
            <a:spAutoFit/>
          </a:bodyPr>
          <a:lstStyle/>
          <a:p>
            <a:r>
              <a:rPr sz="1200" b="1" i="0">
                <a:solidFill>
                  <a:srgbClr val="0F766E"/>
                </a:solidFill>
              </a:rPr>
              <a:t>Q3–Q4 2027</a:t>
            </a:r>
          </a:p>
        </p:txBody>
      </p:sp>
      <p:sp>
        <p:nvSpPr>
          <p:cNvPr id="23" name="TextBox 22"/>
          <p:cNvSpPr txBox="1"/>
          <p:nvPr/>
        </p:nvSpPr>
        <p:spPr>
          <a:xfrm>
            <a:off x="9226296" y="2743200"/>
            <a:ext cx="2148840" cy="685800"/>
          </a:xfrm>
          <a:prstGeom prst="rect">
            <a:avLst/>
          </a:prstGeom>
          <a:noFill/>
        </p:spPr>
        <p:txBody>
          <a:bodyPr wrap="square" lIns="0" rIns="0" tIns="0" bIns="0" anchor="t">
            <a:spAutoFit/>
          </a:bodyPr>
          <a:lstStyle/>
          <a:p>
            <a:r>
              <a:rPr sz="1500" b="1" i="0">
                <a:solidFill>
                  <a:srgbClr val="14424C"/>
                </a:solidFill>
              </a:rPr>
              <a:t>Phased to national</a:t>
            </a:r>
          </a:p>
        </p:txBody>
      </p:sp>
      <p:sp>
        <p:nvSpPr>
          <p:cNvPr id="24" name="TextBox 23"/>
          <p:cNvSpPr txBox="1"/>
          <p:nvPr/>
        </p:nvSpPr>
        <p:spPr>
          <a:xfrm>
            <a:off x="9226296" y="3429000"/>
            <a:ext cx="2148840" cy="1097280"/>
          </a:xfrm>
          <a:prstGeom prst="rect">
            <a:avLst/>
          </a:prstGeom>
          <a:noFill/>
        </p:spPr>
        <p:txBody>
          <a:bodyPr wrap="square" lIns="0" rIns="0" tIns="0" bIns="0" anchor="t">
            <a:spAutoFit/>
          </a:bodyPr>
          <a:lstStyle/>
          <a:p>
            <a:r>
              <a:rPr sz="1200" b="0" i="0">
                <a:solidFill>
                  <a:srgbClr val="1D2B30"/>
                </a:solidFill>
              </a:rPr>
              <a:t>Gate: 30-day enrolment +15 points; no group gap over 10</a:t>
            </a:r>
          </a:p>
        </p:txBody>
      </p:sp>
      <p:sp>
        <p:nvSpPr>
          <p:cNvPr id="25" name="Rounded Rectangle 24"/>
          <p:cNvSpPr/>
          <p:nvPr/>
        </p:nvSpPr>
        <p:spPr>
          <a:xfrm>
            <a:off x="548640" y="5212080"/>
            <a:ext cx="11064240" cy="960120"/>
          </a:xfrm>
          <a:prstGeom prst="roundRect">
            <a:avLst>
              <a:gd name="adj" fmla="val 8000"/>
            </a:avLst>
          </a:prstGeom>
          <a:solidFill>
            <a:srgbClr val="EE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349240"/>
            <a:ext cx="10515600" cy="685800"/>
          </a:xfrm>
          <a:prstGeom prst="rect">
            <a:avLst/>
          </a:prstGeom>
          <a:noFill/>
        </p:spPr>
        <p:txBody>
          <a:bodyPr wrap="square" lIns="0" rIns="0" tIns="0" bIns="0" anchor="ctr">
            <a:spAutoFit/>
          </a:bodyPr>
          <a:lstStyle/>
          <a:p>
            <a:r>
              <a:rPr sz="1300" b="1">
                <a:solidFill>
                  <a:srgbClr val="0F766E"/>
                </a:solidFill>
              </a:rPr>
              <a:t>Next after the MVP: </a:t>
            </a:r>
            <a:r>
              <a:rPr sz="1300" b="0">
                <a:solidFill>
                  <a:srgbClr val="1D2B30"/>
                </a:solidFill>
              </a:rPr>
              <a:t>document upload and checking (payslips, leases), and a citizen-facing assistant on the same rules. Auto-send for low-risk cases only after six months with zero incidents.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Next: shadow mode in one region, Q1 2027</a:t>
            </a:r>
          </a:p>
        </p:txBody>
      </p:sp>
      <p:sp>
        <p:nvSpPr>
          <p:cNvPr id="3" name="Text Placeholder 2"/>
          <p:cNvSpPr>
            <a:spLocks noGrp="1"/>
          </p:cNvSpPr>
          <p:nvPr>
            <p:ph type="body" idx="101"/>
          </p:nvPr>
        </p:nvSpPr>
        <p:spPr/>
        <p:txBody>
          <a:bodyPr/>
          <a:lstStyle/>
          <a:p>
            <a:r>
              <a:t>Approve read-only access to registry and employer feeds for one region</a:t>
            </a:r>
          </a:p>
          <a:p>
            <a:r>
              <a:t>Run the live evals on 500 real events; nothing is sent to citizens</a:t>
            </a:r>
          </a:p>
          <a:p>
            <a:r>
              <a:t>Decide on the assisted pilot with the eval and North Star data</a:t>
            </a:r>
          </a:p>
        </p:txBody>
      </p:sp>
      <p:sp>
        <p:nvSpPr>
          <p:cNvPr id="4" name="TextBox 3"/>
          <p:cNvSpPr txBox="1"/>
          <p:nvPr/>
        </p:nvSpPr>
        <p:spPr>
          <a:xfrm>
            <a:off x="731520" y="5760720"/>
            <a:ext cx="10698480" cy="365760"/>
          </a:xfrm>
          <a:prstGeom prst="rect">
            <a:avLst/>
          </a:prstGeom>
          <a:noFill/>
        </p:spPr>
        <p:txBody>
          <a:bodyPr wrap="square" lIns="0" rIns="0" tIns="0" bIns="0" anchor="t">
            <a:spAutoFit/>
          </a:bodyPr>
          <a:lstStyle/>
          <a:p>
            <a:r>
              <a:rPr sz="1200" b="1" i="0">
                <a:solidFill>
                  <a:srgbClr val="E8A33D"/>
                </a:solidFill>
              </a:rPr>
              <a:t>Try it: npm run dev (Offline mode needs no key) · deploys to Vercel's free tier</a:t>
            </a:r>
          </a:p>
        </p:txBody>
      </p:sp>
    </p:spTree>
  </p:cSld>
  <p:clrMapOvr>
    <a:masterClrMapping/>
  </p:clrMapOvr>
</p:sld>
</file>

<file path=ppt/theme/theme1.xml><?xml version="1.0" encoding="utf-8"?>
<a:theme xmlns:a="http://schemas.openxmlformats.org/drawingml/2006/main" name="AtliQ Sales and CRM Assistant">
  <a:themeElements>
    <a:clrScheme name="AtliQ Sales and CRM Assistant">
      <a:dk1>
        <a:srgbClr val="1D2B30"/>
      </a:dk1>
      <a:lt1>
        <a:srgbClr val="FFFFFF"/>
      </a:lt1>
      <a:dk2>
        <a:srgbClr val="14424C"/>
      </a:dk2>
      <a:lt2>
        <a:srgbClr val="EEF3F2"/>
      </a:lt2>
      <a:accent1>
        <a:srgbClr val="0F766E"/>
      </a:accent1>
      <a:accent2>
        <a:srgbClr val="E8A33D"/>
      </a:accent2>
      <a:accent3>
        <a:srgbClr val="C2463F"/>
      </a:accent3>
      <a:accent4>
        <a:srgbClr val="5B7C99"/>
      </a:accent4>
      <a:accent5>
        <a:srgbClr val="7A9E7E"/>
      </a:accent5>
      <a:accent6>
        <a:srgbClr val="8A6FB0"/>
      </a:accent6>
      <a:hlink>
        <a:srgbClr val="0F766E"/>
      </a:hlink>
      <a:folHlink>
        <a:srgbClr val="5B7C99"/>
      </a:folHlink>
    </a:clrScheme>
    <a:fontScheme name="AtliQ Sales and CRM Assist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2816</Words>
  <Application>Microsoft Office PowerPoint</Application>
  <PresentationFormat>Widescreen</PresentationFormat>
  <Paragraphs>263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AtliQ Sales and CRM Assistant</vt:lpstr>
      <vt:lpstr>AtliQ Sales and CRM Assistant</vt:lpstr>
      <vt:lpstr>Revenue is leaking from deals AtliQ is already winning</vt:lpstr>
      <vt:lpstr>Discovery: sellers work from a phone, not the CRM</vt:lpstr>
      <vt:lpstr>Five whys lead to one root cause: no shared working memory</vt:lpstr>
      <vt:lpstr>The gap shows up account by account</vt:lpstr>
      <vt:lpstr>We scored 15 AI opportunities and built the top six</vt:lpstr>
      <vt:lpstr>Four features, one rule: propose, never act alone</vt:lpstr>
      <vt:lpstr>8:00 am: Bhavin sees what needs him, ranked and cited</vt:lpstr>
      <vt:lpstr>Grounded in sources, gated by people</vt:lpstr>
      <vt:lpstr>Rules where possible, models where needed</vt:lpstr>
      <vt:lpstr>North Star: Commitments Kept on Time, from 41% to 90%</vt:lpstr>
      <vt:lpstr>The North Star leads; revenue follows</vt:lpstr>
      <vt:lpstr>The prototype already passes the launch evals on the dataset</vt:lpstr>
      <vt:lpstr>The highest risks, and the guardrail for each</vt:lpstr>
      <vt:lpstr>Rollout earns trust in stages</vt:lpstr>
      <vt:lpstr>Next: closed beta with Bhavin, 3 Aug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Sales and CRM Assistant</dc:title>
  <dc:subject>Capstone 1, Step 6 presentation</dc:subject>
  <dc:creator>Ashokkumar</dc:creator>
  <cp:lastModifiedBy>Ashokkumar Burasiya</cp:lastModifiedBy>
  <cp:revision>2</cp:revision>
  <dcterms:created xsi:type="dcterms:W3CDTF">2026-10-08T10:01:01Z</dcterms:created>
  <dcterms:modified xsi:type="dcterms:W3CDTF">2026-10-23T15:10:44Z</dcterms:modified>
</cp:coreProperties>
</file>